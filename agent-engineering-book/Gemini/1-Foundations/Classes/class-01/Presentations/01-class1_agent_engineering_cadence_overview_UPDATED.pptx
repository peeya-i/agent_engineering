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how the course operates: cadence, Git, baseline recovery, verification, and the Class 1 lab handoff. It does not replace the agentic overview, SDR overview, or Antigravity ecosystem presentations.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1 merges the old charter class and the old harness class. We will explain the system, prepare the environment, and leave with something runnable and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we build across the next ten classes is one running system: WidgetWare SDR Lab. Today is unusual because a charter that cannot run is a weaker starting point than a charter paired with a verified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Engineering and SDR presentations can sit before the build segment. The timing here keeps Class 1 practical and leaves a few minutes for homework and exit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observable exit condition. We are not aiming for a perfect production application today. We are aiming for a clean start, a runnable harness, and a shared operating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recurring operating pattern. It includes the older nine segments: homework review, mistakes, golden code, concepts, quiz, build, tests, comparison, and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 is not a one-by-one debugging session. It is a way to surface generalizable lessons and tie them into the next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recovery model. The learner’s broken work is not erased, but it is also not allowed to slow the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Forking happens once. Learners do not push into the instructor repository. Their fork is their copy; upstream remains the course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 learner language is “get the golden code.” The actual technical pattern is clone once, fetch and sync, then restore the right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solution is not an answer sheet. It becomes useful after learners have attempted the current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check comes before the main build so misunderstandings show up before they become implementation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proves that the repository meets a contract. The quality check asks whether the engineering choices are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learners to develop design judgment. The reference is a discussion artifact, not the sole definition of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change from the previous course structure. Class 1 is no longer prose only. It ends with a verified runnable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artifacts used to be the whole first class. They remain essential, but now they are paired with a harness that can be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existence of check.sh is the difference between a promising folder and a verified checkpoint. It must be portable and must not require cloud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is for people; SPEC is for implementation. Antigravity should not guess from a vague prompt. We provide the contract, request a plan, review it, and only then permit bounded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 criteria need to be honest. Class 1 proves the harness and documentation contract; it does not claim to have a model, ADK agent, or qualification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the homework requirements and emphasizing that Class 2 begins from a verified baseline, not from each learner’s potentially broken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1: Course Orientation and Build Readiness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</a:rPr>
              <a:t>Agent Engineering with Gemini, ADK &amp; Antigravity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117750" cy="9144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Understand course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0982" y="2834640"/>
            <a:ext cx="2117750" cy="91440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Learn rhythm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1885" y="2834640"/>
            <a:ext cx="2117750" cy="91440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Prepare workspace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12787" y="2834640"/>
            <a:ext cx="211775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Verify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03690" y="2834640"/>
            <a:ext cx="211775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Start 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996696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Class 1 establishes the learning system before we extend the agent system.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Class 1 Contains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Conceptual context, development readiness, and a repeatable operating model.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033979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19779" y="1691640"/>
            <a:ext cx="4117543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Purpose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37322" y="1691640"/>
            <a:ext cx="3684118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Delivery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033979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Agentic + SDR orientation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19779" y="2240280"/>
            <a:ext cx="4117543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Understand the system and business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37322" y="2240280"/>
            <a:ext cx="3684118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Separate decks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3033979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Antigravity + repository harness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19779" y="2788920"/>
            <a:ext cx="4117543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Prepare the environment used throughout the course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37322" y="2788920"/>
            <a:ext cx="3684118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Guided verification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3033979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Course operating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19779" y="3337560"/>
            <a:ext cx="4117543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Learn how every class starts, builds, tests, and closes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37322" y="3337560"/>
            <a:ext cx="3684118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B4D"/>
                </a:solidFill>
              </a:rPr>
              <a:t>This deck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4663440"/>
            <a:ext cx="9966960" cy="6858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The objective is not merely to understand the material. The objective is to become ready to build.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Ten-Class Arc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One running system grows from charter and harness to a bounded unattended loop.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1105510" cy="12801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1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C1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Charter + harness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553566" y="1965960"/>
            <a:ext cx="1105510" cy="12801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2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C2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Context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2695651" y="1965960"/>
            <a:ext cx="1105510" cy="12801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3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C3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First agent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3837737" y="1965960"/>
            <a:ext cx="110551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4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C4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Skills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4979822" y="1965960"/>
            <a:ext cx="1105510" cy="1280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5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C5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Contracts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6121908" y="1965960"/>
            <a:ext cx="1105510" cy="12801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6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C6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Tools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7263994" y="1965960"/>
            <a:ext cx="1105510" cy="12801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7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C7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Research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8406079" y="1965960"/>
            <a:ext cx="1105510" cy="128016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8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C8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Workflow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9548165" y="1965960"/>
            <a:ext cx="1105510" cy="128016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9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C9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Eval + deploy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0690250" y="1965960"/>
            <a:ext cx="1105510" cy="12801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10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C10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Loop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4983480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Today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 runnable charter and repository harness. The first checkpoint proves the workspace is real.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64008" cy="109728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77640"/>
            <a:ext cx="4983480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End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 bounded, unattended batch loop wrapping a proven, tested, human-governed workflow.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64008" cy="10972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Agenda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 two-hour session that gets everyone ready to build from a shared baseline.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1794053" cy="50292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91333" y="1417320"/>
            <a:ext cx="8172907" cy="50292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1794053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00–10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91333" y="1920240"/>
            <a:ext cx="817290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Welcome, course outcomes, expectations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1794053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10–30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91333" y="2423160"/>
            <a:ext cx="8172907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Course architecture, case study, repository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1794053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30–55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91333" y="2926080"/>
            <a:ext cx="817290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Agent Engineering foundations + Class 1 build concepts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1794053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55–65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91333" y="3429000"/>
            <a:ext cx="8172907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Kahoot knowledge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1794053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65–95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91333" y="3931920"/>
            <a:ext cx="817290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Build together: charter, then harness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4434840"/>
            <a:ext cx="1794053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95–110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91333" y="4434840"/>
            <a:ext cx="8172907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Run checks, diagnose failures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1794053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110–117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91333" y="4937760"/>
            <a:ext cx="817290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Golden baseline and Class 2 workflow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5440680"/>
            <a:ext cx="1794053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117–120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91333" y="5440680"/>
            <a:ext cx="8172907" cy="50292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Homework and exit checklist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Looks Like for Class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Success is observable: learners can access, reset, verify, and explain the workflow.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28600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Course journey understood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1691640"/>
            <a:ext cx="228600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Class rhythm understood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228600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Antigravity opens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0" y="1691640"/>
            <a:ext cx="2286000" cy="310896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Fork + clone completed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28600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Golden baseline found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228600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check.sh passes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2697480"/>
            <a:ext cx="228600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my-work located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0" y="2697480"/>
            <a:ext cx="2286000" cy="310896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Ready for Class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4754880"/>
            <a:ext cx="10241280" cy="6858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Class 1 is successful when the entire class is technically and operationally ready to build.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Rhythm of Every Class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sequence stays consistent; the capability being built changes.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1432995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4827" y="1965960"/>
            <a:ext cx="1432995" cy="10972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0975" y="1965960"/>
            <a:ext cx="1432995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Learn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87122" y="1965960"/>
            <a:ext cx="1432995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93270" y="1965960"/>
            <a:ext cx="1432995" cy="109728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99417" y="1965960"/>
            <a:ext cx="1432995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Verify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5565" y="1965960"/>
            <a:ext cx="1432995" cy="10972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Advance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4160520"/>
            <a:ext cx="9646920" cy="105156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Why it matters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Learners can recover from a broken prior attempt, start from a known-good checkpoint, and keep learning without losing the engineering discipline.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160520"/>
            <a:ext cx="64008" cy="105156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1: Review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Begin with evidence from the previous class before introducing today’s work.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29000" cy="182880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Review 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What was completed? What remained incomplete? Which tests passed or failed?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64008" cy="18288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54480"/>
            <a:ext cx="3429000" cy="182880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Review mistakes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Incorrect assumptions, misunderstood requirements, and implementation errors become teaching inputs.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64008" cy="182880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554480"/>
            <a:ext cx="3429000" cy="1828800"/>
          </a:xfrm>
          <a:prstGeom prst="rect">
            <a:avLst/>
          </a:prstGeom>
          <a:solidFill>
            <a:srgbClr val="F6F9FC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Review homework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Selected learner demonstrations, questions, and problems that should inform today’s lesson.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64008" cy="182880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526280"/>
            <a:ext cx="9966960" cy="6858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We do not hide mistakes. We use them as inputs to the next engineering cycle.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2: Reset to the Golden Baseline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Everyone begins today from the same working state.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062886" cy="10972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Sync repo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58998" y="1737360"/>
            <a:ext cx="2062886" cy="10972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Retrieve previous gold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95037" y="1737360"/>
            <a:ext cx="2062886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Create current workspace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1075" y="1737360"/>
            <a:ext cx="2062886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Run baseline gate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67114" y="1737360"/>
            <a:ext cx="2062886" cy="109728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Begin today’s build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3794760"/>
            <a:ext cx="9875520" cy="11430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Example: Starting Class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If Class 4 work is broken, keep it for review but retrieve the Class 4 golden checkpoint, create a Class 5 workspace, verify it, then build.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794760"/>
            <a:ext cx="64008" cy="11430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5257800"/>
            <a:ext cx="8961120" cy="54864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Prior mistakes remain available for learning, but they do not block future progress.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Fork the Course Repository — One Time Only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Forking gives every learner a personal copy while preserving the instructor repo as source of truth.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972800" cy="7315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Instructor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https://github.com/sensei-ji/agent_engineering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64008" cy="73152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1989734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Open repo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7286" y="2834640"/>
            <a:ext cx="1989734" cy="960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Click Fork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40173" y="2834640"/>
            <a:ext cx="1989734" cy="9601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Create personal copy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03059" y="2834640"/>
            <a:ext cx="1989734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Clone your fork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65946" y="2834640"/>
            <a:ext cx="1989734" cy="96012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Add upstream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4983480"/>
            <a:ext cx="813816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Fork once. Clone once. Synchronize every class.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Clone Once, Synchronize Every Class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daily workflow is sync-and-restore, not re-clone-and-start-over.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5029200" cy="23317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One-time 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Fork course repo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Clone learner fork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Configure upstream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Open in Antigravity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Install dependencies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64008" cy="233172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5029200" cy="23317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Every class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Fetch instructor updates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Synchronize fork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Restore previous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Create current workspace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Run baseline tests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64008" cy="233172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Do not repeatedly clone the whole repository. Preserve your work and sync the course source.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Code States, Three Different Purposes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Separate starting points, learner work, and reference solutions.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17316" cy="56007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Code state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31716" y="1508760"/>
            <a:ext cx="4566514" cy="56007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Purpose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98230" y="1508760"/>
            <a:ext cx="2594610" cy="56007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When used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068830"/>
            <a:ext cx="3217316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Previous-class golden checkpoint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31716" y="2068830"/>
            <a:ext cx="4566514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Known-good starting point for today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98230" y="2068830"/>
            <a:ext cx="2594610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Beginning of class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628900"/>
            <a:ext cx="3217316" cy="56007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Learner working copy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31716" y="2628900"/>
            <a:ext cx="4566514" cy="56007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Implementation, experiments, and decisions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98230" y="2628900"/>
            <a:ext cx="2594610" cy="56007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During class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188970"/>
            <a:ext cx="3217316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Current-class reference solution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31716" y="3188970"/>
            <a:ext cx="4566514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Comparison and review artifact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98230" y="3188970"/>
            <a:ext cx="2594610" cy="56007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After learner attempt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480560"/>
            <a:ext cx="8549640" cy="73152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Start from yesterday’s gold. Do not copy today’s gold.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Phases 3–5: Learn, Check, Build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Concept → prediction → implementation → evidence.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29000" cy="274320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Learn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Engineering problem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Why it matters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Seven Steps mapping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Boundaries and success criteria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64008" cy="274320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08760"/>
            <a:ext cx="3429000" cy="274320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Kahoot or quick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Architecture questions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Requirement interpretation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Predict expected behavior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64008" cy="274320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508760"/>
            <a:ext cx="3429000" cy="274320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Guided first steps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Implementation in Antigravity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Inspect behavior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Capture decisions and errors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64008" cy="274320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6: Verify at Two Levels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Passing tests is necessary, but not sufficient.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021178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Verification level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52698" y="1463040"/>
            <a:ext cx="4639666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 answered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92363" y="1463040"/>
            <a:ext cx="3129077" cy="548640"/>
          </a:xfrm>
          <a:prstGeom prst="rect">
            <a:avLst/>
          </a:prstGeom>
          <a:solidFill>
            <a:srgbClr val="1A73E8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021178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Gate check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52698" y="2011680"/>
            <a:ext cx="4639666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Did the implementation meet the technical contract?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92363" y="2011680"/>
            <a:ext cx="3129077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Deterministic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3021178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Quality check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52698" y="2560320"/>
            <a:ext cx="4639666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Is it coherent, useful, and well-reasoned?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92363" y="2560320"/>
            <a:ext cx="3129077" cy="548640"/>
          </a:xfrm>
          <a:prstGeom prst="rect">
            <a:avLst/>
          </a:prstGeom>
          <a:solidFill>
            <a:srgbClr val="F6F9FC"/>
          </a:solidFill>
          <a:ln w="7620">
            <a:solidFill>
              <a:srgbClr val="D8E2E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B4D"/>
                </a:solidFill>
              </a:rPr>
              <a:t>Rubric-guided review / LLM judge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4754880" cy="11887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Gate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Required files, schemas, tests, boundaries, and backward compatibility.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3657600"/>
            <a:ext cx="64008" cy="118872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657600"/>
            <a:ext cx="4754880" cy="11887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Quality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Clarity, evidence, reasoning, valid alternatives, and learner understanding.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64008" cy="118872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Without Copying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reference solution becomes useful after a serious implementation attempt.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752600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1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Open reference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511552" y="1691640"/>
            <a:ext cx="1752600" cy="960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2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Compare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337304" y="1691640"/>
            <a:ext cx="1752600" cy="9601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3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Find gaps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163056" y="1691640"/>
            <a:ext cx="1752600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4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Assess differences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988808" y="1691640"/>
            <a:ext cx="1752600" cy="96012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5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Run rubric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814560" y="1691640"/>
            <a:ext cx="1752600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6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B1F3A"/>
                </a:solidFill>
              </a:rPr>
              <a:t>Revise priority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5074920" cy="12344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Reference solution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One correct implementation. A comparison point. A source of engineering discussion.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64008" cy="123444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657600"/>
            <a:ext cx="507492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Not a substitute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Not the only acceptable design. Not material to copy before attempting the work.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64008" cy="123444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Build Brief: Two-Part Increment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Today combines the charter with the runnable repository harness.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166360" cy="292608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Part one: the charter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SPEC.md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docs/widgetware-business-brief.md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docs/acceptance-criteria.md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tests/scenarios/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64008" cy="292608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508760"/>
            <a:ext cx="5166360" cy="292608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Part two: the harness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pyproject.toml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src/widgetware_sdr/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.env.example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.agents/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scripts/check.sh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tests/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64008" cy="292608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83480"/>
            <a:ext cx="1014984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 charter nobody can run is a weaker checkpoint than a charter paired with a workspace that proves it is real.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Charter Artifacts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Frame the use case before implementation decisions harden.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998878" cy="9601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README.md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86430" y="2057400"/>
            <a:ext cx="1998878" cy="9601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SPEC.md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58461" y="2057400"/>
            <a:ext cx="1998878" cy="9601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Business brief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0491" y="2057400"/>
            <a:ext cx="1998878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Acceptance criteria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02522" y="2057400"/>
            <a:ext cx="1998878" cy="96012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Scenarios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3977640"/>
            <a:ext cx="9784080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Class 1 discipline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The business boundary, required behavior, prohibited behavior, and representative scenarios are written before the system grows agentic capabilities.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3977640"/>
            <a:ext cx="64008" cy="109728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Harness Artifacts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harness is part of the system, not scaffolding to discard.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4800600" cy="30175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Repository harness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Installable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Health check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Environment verification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Formatting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Linting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Type checking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Unit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64008" cy="301752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463040"/>
            <a:ext cx="5257800" cy="30175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One command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./scripts/check.sh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Runs: verify environment → format check → lint → type-check → pytest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64008" cy="3017520"/>
          </a:xfrm>
          <a:prstGeom prst="rect">
            <a:avLst/>
          </a:prstGeom>
          <a:solidFill>
            <a:srgbClr val="1A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983480"/>
            <a:ext cx="9144000" cy="59436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By the end of today, that one command actually runs and actually passes.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Antigravity Engineering Contract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The development agent may reason; the repository determines what is permitted.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362456" cy="11887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1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State objective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1901952" y="1828800"/>
            <a:ext cx="1362456" cy="11887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2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Provide SPEC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3300984" y="1828800"/>
            <a:ext cx="1362456" cy="11887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3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Ask for plan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4700016" y="1828800"/>
            <a:ext cx="1362456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4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Review plan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099048" y="1828800"/>
            <a:ext cx="1362456" cy="1188720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5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Permit bounded implementation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7498080" y="1828800"/>
            <a:ext cx="1362456" cy="118872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6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Inspect diff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8897112" y="1828800"/>
            <a:ext cx="1362456" cy="1188720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7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Run tests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10296144" y="1828800"/>
            <a:ext cx="1362456" cy="118872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8</a:t>
            </a:r>
            <a:endParaRPr lang="en-US" sz="870" dirty="0"/>
          </a:p>
          <a:p>
            <a:pPr algn="ctr" indent="0" marL="0">
              <a:buNone/>
            </a:pPr>
            <a:r>
              <a:rPr lang="en-US" sz="870" b="1" dirty="0">
                <a:solidFill>
                  <a:srgbClr val="0B1F3A"/>
                </a:solidFill>
              </a:rPr>
              <a:t>Accept / revise / revert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097280" y="4114800"/>
            <a:ext cx="9966960" cy="960120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Development-agent security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Review shell commands, restrict production credentials, use .env.example, isolate experiments, and inspect dependency additions.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64008" cy="960120"/>
          </a:xfrm>
          <a:prstGeom prst="rect">
            <a:avLst/>
          </a:prstGeom>
          <a:solidFill>
            <a:srgbClr val="FBBC0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1 Exit Check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Before we end, every learner should answer yes.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87452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Repo forked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1463040"/>
            <a:ext cx="187452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Fork cloned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187452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Upstream known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52360" y="1463040"/>
            <a:ext cx="1874520" cy="310896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Antigravity opens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0" y="1463040"/>
            <a:ext cx="1874520" cy="310896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my-work located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1874520" cy="310896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Package installs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0" y="2423160"/>
            <a:ext cx="1874520" cy="310896"/>
          </a:xfrm>
          <a:prstGeom prst="rect">
            <a:avLst/>
          </a:prstGeom>
          <a:solidFill>
            <a:srgbClr val="E9F7F7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check.sh passes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2423160"/>
            <a:ext cx="1874520" cy="310896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No credentials committed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52360" y="2423160"/>
            <a:ext cx="1874520" cy="310896"/>
          </a:xfrm>
          <a:prstGeom prst="rect">
            <a:avLst/>
          </a:prstGeom>
          <a:solidFill>
            <a:srgbClr val="FFF8E1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No Gemini/ADK yet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92640" y="2423160"/>
            <a:ext cx="1874520" cy="310896"/>
          </a:xfrm>
          <a:prstGeom prst="rect">
            <a:avLst/>
          </a:prstGeom>
          <a:solidFill>
            <a:srgbClr val="EEF4FB"/>
          </a:solidFill>
          <a:ln w="12700">
            <a:solidFill>
              <a:srgbClr val="D8E2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Ready for Class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10149840" cy="68580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Section A is what today is held to. Section B is the future product commitment.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1 Orientation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</a:rPr>
              <a:t>20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6400800"/>
            <a:ext cx="11384280" cy="0"/>
          </a:xfrm>
          <a:prstGeom prst="line">
            <a:avLst/>
          </a:prstGeom>
          <a:noFill/>
          <a:ln w="1016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66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Homework and Bridge to Class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Finish the baseline, reflect, and arrive ready to restore a checkpoint.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5257800" cy="2834640"/>
          </a:xfrm>
          <a:prstGeom prst="rect">
            <a:avLst/>
          </a:prstGeom>
          <a:solidFill>
            <a:srgbClr val="EAF2F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Homework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Committed repository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Clean check.sh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One refined acceptance criterion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Optional Antigravity lab evidence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64008" cy="2834640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1417320"/>
            <a:ext cx="5257800" cy="2834640"/>
          </a:xfrm>
          <a:prstGeom prst="rect">
            <a:avLst/>
          </a:prstGeom>
          <a:solidFill>
            <a:srgbClr val="EAF6EE"/>
          </a:solidFill>
          <a:ln w="12700">
            <a:solidFill>
              <a:srgbClr val="D8E2EF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Next class starts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Preserve today’s 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Sync the fork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Retrieve Class 1 gold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Create Class 2 workspace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D"/>
                </a:solidFill>
              </a:rPr>
              <a:t>Run baseline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64008" cy="2834640"/>
          </a:xfrm>
          <a:prstGeom prst="rect">
            <a:avLst/>
          </a:prstGeom>
          <a:solidFill>
            <a:srgbClr val="34A85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892040"/>
            <a:ext cx="9966960" cy="640080"/>
          </a:xfrm>
          <a:prstGeom prst="rect">
            <a:avLst/>
          </a:prstGeom>
          <a:solidFill>
            <a:srgbClr val="E9F7F7"/>
          </a:solidFill>
          <a:ln w="15240">
            <a:solidFill>
              <a:srgbClr val="1AA6A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Every class leaves behind a working checkpoint and a clear bridge to the next one.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CloudKarya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 Orientation and Repository Harness</dc:title>
  <dc:subject>Class 1 Orientation and Repository Harness</dc:subject>
  <dc:creator>CloudKarya</dc:creator>
  <cp:lastModifiedBy>CloudKarya</cp:lastModifiedBy>
  <cp:revision>1</cp:revision>
  <dcterms:created xsi:type="dcterms:W3CDTF">2026-08-01T01:23:58Z</dcterms:created>
  <dcterms:modified xsi:type="dcterms:W3CDTF">2026-08-01T01:23:58Z</dcterms:modified>
</cp:coreProperties>
</file>