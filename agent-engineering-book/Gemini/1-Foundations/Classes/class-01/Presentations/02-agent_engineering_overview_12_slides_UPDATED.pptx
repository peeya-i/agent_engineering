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opening distinguishes model capability from engineered business outcome. A language model is important, but it is not the whole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WidgetWare will research, qualify, and draft, but outbound communication stops at a human. That boundary does not move during Book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vocabulary that will be used throughout the course. Not everything deserves to become an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word bounded is important. We are not building unrestricted autonomy. We are engineering controlled goal pursuit inside explicit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reliable agent system includes context, tools, skills, state, policies, evaluation, and oversight. The model alone does not carry all these responsibilities.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one sentence is the book. Every class applies this pattern to another part of WidgetWare.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are valuable when the path cannot be fully predetermined. They are not an excuse to replace simple deterministic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corrects a common misconception. Multi-agent design is not a badge; it is a decomposition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multi-agent system is not just agents chatting. It needs explicit state transitions, typed handoffs, failure rules, and approval 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case for the discipline. It is not enough to get an impressive answer once. We need a system with controls, evidence, and reliability.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course framework. Each class maps today’s work to one or more steps, so learners understand why each capability is introduced.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bridges into SDR. We now understand the engineering discipline; next we need a realistic business process where these ideas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Engineering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Language Models to Agent Engineering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What agents are — and what it takes to make them dependable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1989734" cy="100584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77286" y="2834640"/>
            <a:ext cx="1989734" cy="100584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Assistant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40173" y="2834640"/>
            <a:ext cx="1989734" cy="100584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03059" y="2834640"/>
            <a:ext cx="1989734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Agentic system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65946" y="2834640"/>
            <a:ext cx="1989734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Engineered outcome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4617720"/>
            <a:ext cx="9784080" cy="73152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A model produces possible intelligence. Engineering makes that intelligence usable.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Engineering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Model Is a Capability, Not a System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Gemini can reason, summarize, classify, infer and draft — but not govern itself.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3520440" cy="324612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 model can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Interpret language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Summarize information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Classify ambiguous inputs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Generate drafts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Reason across supplied context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64008" cy="324612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417320"/>
            <a:ext cx="3520440" cy="324612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 system must provide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Responsibility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Permission enforcement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Persistence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Correctness checks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Auditability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Human authority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64008" cy="3246120"/>
          </a:xfrm>
          <a:prstGeom prst="rect">
            <a:avLst/>
          </a:prstGeom>
          <a:solidFill>
            <a:srgbClr val="1A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1417320"/>
            <a:ext cx="3520440" cy="324612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Autonomy boundary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Answer only → Recommend → Draft → Prepare → Act with approval → Act within policy → Open-ended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WidgetWare Book 1 stops at Level 4: Prepare.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0" y="1417320"/>
            <a:ext cx="64008" cy="3246120"/>
          </a:xfrm>
          <a:prstGeom prst="rect">
            <a:avLst/>
          </a:prstGeom>
          <a:solidFill>
            <a:srgbClr val="FBBC0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5166360"/>
            <a:ext cx="9555480" cy="59436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The model provides intelligence. The surrounding system provides control.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Engineering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3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Assistant, Workflow, and Agent Are Not the Same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Each pattern has a different control model and different engineering obligation.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2130552" cy="685800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Pattern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07792" y="1508760"/>
            <a:ext cx="4474159" cy="685800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81951" y="1508760"/>
            <a:ext cx="4048049" cy="685800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2130552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Assistant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07792" y="2194560"/>
            <a:ext cx="4474159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Responds to a user request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81951" y="2194560"/>
            <a:ext cx="4048049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Summarize this account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880360"/>
            <a:ext cx="2130552" cy="68580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Workflow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07792" y="2880360"/>
            <a:ext cx="4474159" cy="68580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Follows predefined steps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81951" y="2880360"/>
            <a:ext cx="4048049" cy="68580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Validate required fields → apply exclusion rules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566160"/>
            <a:ext cx="2130552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Agent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07792" y="3566160"/>
            <a:ext cx="4474159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Selects or adapts actions toward a goal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81951" y="3566160"/>
            <a:ext cx="4048049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Research signals, decide what to inspect next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4892040"/>
            <a:ext cx="9372600" cy="59436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A fixed, mechanically verifiable process should normally remain deterministic.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Engineering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4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Agent?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A bounded goal-seeking component that uses context and tools to decide what to do next.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1630680" cy="100584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Goal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18232" y="1920240"/>
            <a:ext cx="1630680" cy="100584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Observe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22064" y="1920240"/>
            <a:ext cx="1630680" cy="100584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Reason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25896" y="1920240"/>
            <a:ext cx="163068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Choose action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29728" y="1920240"/>
            <a:ext cx="1630680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33560" y="1920240"/>
            <a:ext cx="1630680" cy="100584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Inspect result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4023360"/>
            <a:ext cx="9738360" cy="114300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Agent loop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The agent interprets the situation, chooses among allowed actions, observes the result, and either continues, stops, or escalates.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34440" y="4023360"/>
            <a:ext cx="64008" cy="114300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Engineering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5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a System Agentic?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An agent becomes reliable only inside a broader engineered system.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1362456" cy="105156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Agent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01952" y="1874520"/>
            <a:ext cx="1362456" cy="105156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Context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00984" y="1874520"/>
            <a:ext cx="1362456" cy="105156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Tools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00016" y="1874520"/>
            <a:ext cx="1362456" cy="105156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Skills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99048" y="1874520"/>
            <a:ext cx="1362456" cy="105156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State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0" y="1874520"/>
            <a:ext cx="1362456" cy="105156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Policies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897112" y="1874520"/>
            <a:ext cx="1362456" cy="105156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7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Evaluation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296144" y="1874520"/>
            <a:ext cx="1362456" cy="105156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8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Human oversight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4114800"/>
            <a:ext cx="10149840" cy="73152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An agent is not merely a model connected to tools. It is a participant inside an engineered system.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Engineering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6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Probabilistic Reasoning Inside Deterministic Boundaries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This is the pattern the entire course keeps returning to.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5074920" cy="274320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Let the model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Interpret ambiguous information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Synthesize weak signals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Draft candidate language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Explain uncertainty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64008" cy="274320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600200"/>
            <a:ext cx="5074920" cy="274320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Let software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Validate inputs and schemas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Authorize actions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Persist state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Route workflows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Enforce policies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64008" cy="2743200"/>
          </a:xfrm>
          <a:prstGeom prst="rect">
            <a:avLst/>
          </a:prstGeom>
          <a:solidFill>
            <a:srgbClr val="1A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937760"/>
            <a:ext cx="10149840" cy="68580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Let the model interpret, synthesize, and draft. Let software validate, authorize, persist, route, and enforce.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Engineering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7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Should We Use an Agent?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Use agentic behavior where judgment, ambiguity and adaptation are real requirements.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5373014" cy="487680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Requirement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87414" y="1417320"/>
            <a:ext cx="4959706" cy="487680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Best mechanism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05000"/>
            <a:ext cx="5373014" cy="487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Employee count exceeds threshold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87414" y="1905000"/>
            <a:ext cx="4959706" cy="487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Deterministic rule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392680"/>
            <a:ext cx="5373014" cy="48768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Announcement suggests buying intent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87414" y="2392680"/>
            <a:ext cx="4959706" cy="48768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Model reasoning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880360"/>
            <a:ext cx="5373014" cy="487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Output has correct schema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87414" y="2880360"/>
            <a:ext cx="4959706" cy="487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Deterministic validation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368040"/>
            <a:ext cx="5373014" cy="48768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Several weak signals indicate readiness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7414" y="3368040"/>
            <a:ext cx="4959706" cy="48768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Model reasoning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855720"/>
            <a:ext cx="5373014" cy="487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External communication is authorized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87414" y="3855720"/>
            <a:ext cx="4959706" cy="487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Policy + human control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4892040"/>
            <a:ext cx="9326880" cy="59436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The goal is correct responsibility assignment, not maximum agentic complexity.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Engineering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8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Multi-Agent System?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Divide work among specialized agents only when separation improves the design.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51560" y="1828800"/>
            <a:ext cx="1953158" cy="96012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Research agent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77870" y="1828800"/>
            <a:ext cx="1953158" cy="96012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Evidence review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04181" y="1828800"/>
            <a:ext cx="1953158" cy="96012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Qualification agent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0491" y="1828800"/>
            <a:ext cx="1953158" cy="96012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Drafting agent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56802" y="1828800"/>
            <a:ext cx="1953158" cy="96012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Approval coordinator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5166360" cy="118872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Why specialize?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Clearer responsibility, smaller context, better testability, independent evaluation, stronger authority boundaries.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977640"/>
            <a:ext cx="64008" cy="1188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977640"/>
            <a:ext cx="5166360" cy="118872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Warning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More agents do not automatically create a better system. Add agents only when separation has architectural value.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977640"/>
            <a:ext cx="64008" cy="1188720"/>
          </a:xfrm>
          <a:prstGeom prst="rect">
            <a:avLst/>
          </a:prstGeom>
          <a:solidFill>
            <a:srgbClr val="FBBC0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Engineering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Orchestration?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Orchestration controls sequence, handoffs, state and failure behavior.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1653540" cy="100584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Intake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41092" y="1645920"/>
            <a:ext cx="1653540" cy="100584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Research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67784" y="1645920"/>
            <a:ext cx="1653540" cy="100584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Evidence review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4476" y="1645920"/>
            <a:ext cx="165354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Qualification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21168" y="1645920"/>
            <a:ext cx="1653540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Drafting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547860" y="1645920"/>
            <a:ext cx="1653540" cy="100584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6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Human approval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80160" y="3657600"/>
            <a:ext cx="4389120" cy="105156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Agents perform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Judgment-intensive work inside bounded responsibilities.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80160" y="3657600"/>
            <a:ext cx="64008" cy="105156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657600"/>
            <a:ext cx="4389120" cy="105156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Orchestration controls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Order, state, inputs, outputs, failures, approvals, and stopping conditions.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3657600"/>
            <a:ext cx="64008" cy="1051560"/>
          </a:xfrm>
          <a:prstGeom prst="rect">
            <a:avLst/>
          </a:prstGeom>
          <a:solidFill>
            <a:srgbClr val="1A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Engineering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10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Agent Engineering Is Necessary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A compelling demo is not the same as a dependable business system.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920240" cy="310896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Business outcome?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0" y="1600200"/>
            <a:ext cx="1920240" cy="310896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Allowed data?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0" y="1600200"/>
            <a:ext cx="1920240" cy="310896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Allowed tools?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0" y="1600200"/>
            <a:ext cx="1920240" cy="310896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Model decisions?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0" y="1600200"/>
            <a:ext cx="1920240" cy="310896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Deterministic rules?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1920240" cy="310896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State?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0" y="2560320"/>
            <a:ext cx="1920240" cy="310896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Validation?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12080" y="2560320"/>
            <a:ext cx="1920240" cy="310896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Human approval?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0" y="2560320"/>
            <a:ext cx="1920240" cy="310896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Failures?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784080" y="2560320"/>
            <a:ext cx="1920240" cy="310896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Improvement?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43000" y="4617720"/>
            <a:ext cx="9921240" cy="77724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Agent Engineering turns probabilistic model behavior into dependable business capability.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Engineering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11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Seven Steps to Agent Engineering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A practical lifecycle for moving from use case to governed agent system.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541417" cy="114300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1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Frame the Use Case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2135777" y="1874520"/>
            <a:ext cx="1541417" cy="114300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2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Build Context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3722914" y="1874520"/>
            <a:ext cx="1541417" cy="114300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3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Design Capabilities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5310051" y="1874520"/>
            <a:ext cx="1541417" cy="114300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4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Build the Harness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6897189" y="1874520"/>
            <a:ext cx="1541417" cy="114300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5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Orchestrate Workflows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8484326" y="1874520"/>
            <a:ext cx="1541417" cy="114300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6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Engineer Loops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10071463" y="1874520"/>
            <a:ext cx="1541417" cy="114300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7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Evaluate &amp; Govern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1097280" y="4160520"/>
            <a:ext cx="9966960" cy="100584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Lifecycle, not checklist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Evaluation and governance feed back into the entire lifecycle. The steps organize engineering decisions as the system matures.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4160520"/>
            <a:ext cx="64008" cy="100584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Engineering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Agent Engineering Ecosystem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A dependable agent system has layers of responsibility, not one giant prompt.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3926434" cy="548640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0834" y="1371600"/>
            <a:ext cx="6406286" cy="548640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Responsibility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3926434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Business objective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0834" y="1920240"/>
            <a:ext cx="6406286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Defines why the system exists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3926434" cy="54864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Agent reasoning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0834" y="2468880"/>
            <a:ext cx="6406286" cy="54864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Interprets, synthesizes, recommends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17520"/>
            <a:ext cx="3926434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Context and capabilities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0834" y="3017520"/>
            <a:ext cx="6406286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Knowledge, skills, contracts, tools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566160"/>
            <a:ext cx="3926434" cy="54864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Harness and orchestration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0834" y="3566160"/>
            <a:ext cx="6406286" cy="54864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Runtime, handoffs, state, workflow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114800"/>
            <a:ext cx="3926434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Evaluation, governance, human authority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0834" y="4114800"/>
            <a:ext cx="6406286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Measure, constrain, approve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5074920"/>
            <a:ext cx="8321040" cy="59436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The model supplies intelligence. Agent Engineering supplies the system.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CloudKarya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Engineering Overview</dc:title>
  <dc:subject>Agent Engineering Overview</dc:subject>
  <dc:creator>CloudKarya</dc:creator>
  <cp:lastModifiedBy>CloudKarya</cp:lastModifiedBy>
  <cp:revision>1</cp:revision>
  <dcterms:created xsi:type="dcterms:W3CDTF">2026-08-01T01:23:58Z</dcterms:created>
  <dcterms:modified xsi:type="dcterms:W3CDTF">2026-08-01T01:23:58Z</dcterms:modified>
</cp:coreProperties>
</file>