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connects the Agent Engineering overview to the SDR business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Acceptance criteria make the business problem testable. They also protect the autonomy boundary from accidental expansion.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WidgetWare SDR Bridge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1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WidgetWare SDR: Learning Agent Engineering Through a Real Business Problem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17830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</a:rPr>
              <a:t>Why SDR is an ideal case study for the Seven Steps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4297680"/>
            <a:ext cx="9966960" cy="91440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We will not study Agent Engineering as isolated features. We will solve a business problem and introduce each capability when the problem requires it.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WidgetWare SDR Bridge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2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Learning Goals, One Project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We learn the engineering discipline while solving a realistic SDR problem.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4937760" cy="219456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Learning goal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A new engineering discipline: context, tools, harness, workflows, loops, evaluation, and governance.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1691640"/>
            <a:ext cx="64008" cy="219456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691640"/>
            <a:ext cx="4937760" cy="219456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Learning goal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A real business process: research accounts, classify evidence, qualify fit, prepare outreach, and require approval.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691640"/>
            <a:ext cx="64008" cy="2194560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4663440"/>
            <a:ext cx="9235440" cy="64008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WidgetWare SDR gives the course one coherent cumulative build.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WidgetWare SDR Bridge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3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SDR Is a Strong Agentic Use Case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It has enough structure for engineering and enough ambiguity for model reasoning.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5074920" cy="283464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Predictable structure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Intake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Research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Qualification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Review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Draft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Approval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508760"/>
            <a:ext cx="64008" cy="283464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508760"/>
            <a:ext cx="5074920" cy="283464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Judgment-intensive decisions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Is the evidence relevant?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Is the account a genuine fit?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What is known versus inferred?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Which buyer role is plausible?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508760"/>
            <a:ext cx="64008" cy="2834640"/>
          </a:xfrm>
          <a:prstGeom prst="rect">
            <a:avLst/>
          </a:prstGeom>
          <a:solidFill>
            <a:srgbClr val="1A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4892040"/>
            <a:ext cx="9235440" cy="59436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This combination makes SDR a clean first domain for Agent Engineering.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WidgetWare SDR Bridge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4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WidgetWare Business Problem and Boundary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Convert a target account into a human-reviewable sales-development package.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3200400" cy="100584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Input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A target account or lead.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64008" cy="100584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1417320"/>
            <a:ext cx="3611880" cy="201168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Work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Research the account, classify evidence, evaluate fit and readiness, identify likely stakeholders, prepare outreach context.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417320"/>
            <a:ext cx="64008" cy="2011680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1417320"/>
            <a:ext cx="3246120" cy="201168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Boundary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No external communication, autonomous prospecting, fact invention, or CRM modification without approval.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83880" y="1417320"/>
            <a:ext cx="64008" cy="2011680"/>
          </a:xfrm>
          <a:prstGeom prst="rect">
            <a:avLst/>
          </a:prstGeom>
          <a:solidFill>
            <a:srgbClr val="FBBC0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754880"/>
            <a:ext cx="9966960" cy="68580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Every one of those out-of-scope items is tempting; that is why we name the boundary before we build.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WidgetWare SDR Bridge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5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Acceptance Criteria Before Implementation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Success is defined before the model generates impressive output.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1645920"/>
            <a:ext cx="3017520" cy="310896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Schema conformance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434840" y="1645920"/>
            <a:ext cx="3017520" cy="310896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Evidence or labeled inference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01000" y="1645920"/>
            <a:ext cx="3017520" cy="310896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No drafting on insufficient evidence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606040"/>
            <a:ext cx="3017520" cy="310896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No autonomous send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34840" y="2606040"/>
            <a:ext cx="3017520" cy="310896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Explainability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01000" y="2606040"/>
            <a:ext cx="3017520" cy="310896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Representative accounts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508760" y="4572000"/>
            <a:ext cx="9189720" cy="73152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None of these can be satisfied by “the response looks good.”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WidgetWare SDR Bridge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6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Deterministic Work and Agentic Work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The goal is correct responsibility assignment, not making everything agentic.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5783580" cy="474345"/>
          </a:xfrm>
          <a:prstGeom prst="rect">
            <a:avLst/>
          </a:prstGeom>
          <a:solidFill>
            <a:srgbClr val="1A73E8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SDR requirement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06540" y="1600200"/>
            <a:ext cx="4732020" cy="474345"/>
          </a:xfrm>
          <a:prstGeom prst="rect">
            <a:avLst/>
          </a:prstGeom>
          <a:solidFill>
            <a:srgbClr val="1A73E8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Mechanism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074545"/>
            <a:ext cx="5783580" cy="474345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B4D"/>
                </a:solidFill>
              </a:rPr>
              <a:t>Validate input structure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06540" y="2074545"/>
            <a:ext cx="4732020" cy="474345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B4D"/>
                </a:solidFill>
              </a:rPr>
              <a:t>Deterministic software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548890"/>
            <a:ext cx="5783580" cy="474345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B4D"/>
                </a:solidFill>
              </a:rPr>
              <a:t>Enforce exclusion rules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06540" y="2548890"/>
            <a:ext cx="4732020" cy="474345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B4D"/>
                </a:solidFill>
              </a:rPr>
              <a:t>Deterministic software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023235"/>
            <a:ext cx="5783580" cy="474345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B4D"/>
                </a:solidFill>
              </a:rPr>
              <a:t>Retrieve approved account data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06540" y="3023235"/>
            <a:ext cx="4732020" cy="474345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B4D"/>
                </a:solidFill>
              </a:rPr>
              <a:t>Controlled tool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497580"/>
            <a:ext cx="5783580" cy="474345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B4D"/>
                </a:solidFill>
              </a:rPr>
              <a:t>Interpret public announcements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06540" y="3497580"/>
            <a:ext cx="4732020" cy="474345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B4D"/>
                </a:solidFill>
              </a:rPr>
              <a:t>Model reasoning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971925"/>
            <a:ext cx="5783580" cy="474345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B4D"/>
                </a:solidFill>
              </a:rPr>
              <a:t>Compare weak signals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06540" y="3971925"/>
            <a:ext cx="4732020" cy="474345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B4D"/>
                </a:solidFill>
              </a:rPr>
              <a:t>Model reasoning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4446270"/>
            <a:ext cx="5783580" cy="474345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B4D"/>
                </a:solidFill>
              </a:rPr>
              <a:t>Validate qualification schema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06540" y="4446270"/>
            <a:ext cx="4732020" cy="474345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B4D"/>
                </a:solidFill>
              </a:rPr>
              <a:t>Deterministic contract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4920615"/>
            <a:ext cx="5783580" cy="474345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B4D"/>
                </a:solidFill>
              </a:rPr>
              <a:t>Authorize external action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06540" y="4920615"/>
            <a:ext cx="4732020" cy="474345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B4D"/>
                </a:solidFill>
              </a:rPr>
              <a:t>Human-controlled policy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WidgetWare SDR Bridge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7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WidgetWare Agent Workflow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The workflow creates inspectable intermediate artifacts rather than one giant prompt.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1240536" cy="109728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0B1F3A"/>
                </a:solidFill>
              </a:rPr>
              <a:t>1</a:t>
            </a:r>
            <a:endParaRPr lang="en-US" sz="810" dirty="0"/>
          </a:p>
          <a:p>
            <a:pPr algn="ctr" indent="0" marL="0">
              <a:buNone/>
            </a:pPr>
            <a:r>
              <a:rPr lang="en-US" sz="810" b="1" dirty="0">
                <a:solidFill>
                  <a:srgbClr val="0B1F3A"/>
                </a:solidFill>
              </a:rPr>
              <a:t>Target account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1679448" y="1737360"/>
            <a:ext cx="1240536" cy="109728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0B1F3A"/>
                </a:solidFill>
              </a:rPr>
              <a:t>2</a:t>
            </a:r>
            <a:endParaRPr lang="en-US" sz="810" dirty="0"/>
          </a:p>
          <a:p>
            <a:pPr algn="ctr" indent="0" marL="0">
              <a:buNone/>
            </a:pPr>
            <a:r>
              <a:rPr lang="en-US" sz="810" b="1" dirty="0">
                <a:solidFill>
                  <a:srgbClr val="0B1F3A"/>
                </a:solidFill>
              </a:rPr>
              <a:t>Research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2947416" y="1737360"/>
            <a:ext cx="1240536" cy="109728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0B1F3A"/>
                </a:solidFill>
              </a:rPr>
              <a:t>3</a:t>
            </a:r>
            <a:endParaRPr lang="en-US" sz="810" dirty="0"/>
          </a:p>
          <a:p>
            <a:pPr algn="ctr" indent="0" marL="0">
              <a:buNone/>
            </a:pPr>
            <a:r>
              <a:rPr lang="en-US" sz="810" b="1" dirty="0">
                <a:solidFill>
                  <a:srgbClr val="0B1F3A"/>
                </a:solidFill>
              </a:rPr>
              <a:t>Evidence classification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4215384" y="1737360"/>
            <a:ext cx="1240536" cy="109728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0B1F3A"/>
                </a:solidFill>
              </a:rPr>
              <a:t>4</a:t>
            </a:r>
            <a:endParaRPr lang="en-US" sz="810" dirty="0"/>
          </a:p>
          <a:p>
            <a:pPr algn="ctr" indent="0" marL="0">
              <a:buNone/>
            </a:pPr>
            <a:r>
              <a:rPr lang="en-US" sz="810" b="1" dirty="0">
                <a:solidFill>
                  <a:srgbClr val="0B1F3A"/>
                </a:solidFill>
              </a:rPr>
              <a:t>Qualification</a:t>
            </a:r>
            <a:endParaRPr lang="en-US" sz="810" dirty="0"/>
          </a:p>
        </p:txBody>
      </p:sp>
      <p:sp>
        <p:nvSpPr>
          <p:cNvPr id="11" name="Text 9"/>
          <p:cNvSpPr/>
          <p:nvPr/>
        </p:nvSpPr>
        <p:spPr>
          <a:xfrm>
            <a:off x="5483352" y="1737360"/>
            <a:ext cx="1240536" cy="1097280"/>
          </a:xfrm>
          <a:prstGeom prst="rect">
            <a:avLst/>
          </a:prstGeom>
          <a:solidFill>
            <a:srgbClr val="EEF4FB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0B1F3A"/>
                </a:solidFill>
              </a:rPr>
              <a:t>5</a:t>
            </a:r>
            <a:endParaRPr lang="en-US" sz="810" dirty="0"/>
          </a:p>
          <a:p>
            <a:pPr algn="ctr" indent="0" marL="0">
              <a:buNone/>
            </a:pPr>
            <a:r>
              <a:rPr lang="en-US" sz="810" b="1" dirty="0">
                <a:solidFill>
                  <a:srgbClr val="0B1F3A"/>
                </a:solidFill>
              </a:rPr>
              <a:t>Independent review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6751320" y="1737360"/>
            <a:ext cx="1240536" cy="109728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0B1F3A"/>
                </a:solidFill>
              </a:rPr>
              <a:t>6</a:t>
            </a:r>
            <a:endParaRPr lang="en-US" sz="810" dirty="0"/>
          </a:p>
          <a:p>
            <a:pPr algn="ctr" indent="0" marL="0">
              <a:buNone/>
            </a:pPr>
            <a:r>
              <a:rPr lang="en-US" sz="810" b="1" dirty="0">
                <a:solidFill>
                  <a:srgbClr val="0B1F3A"/>
                </a:solidFill>
              </a:rPr>
              <a:t>Buyer hypothesis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8019288" y="1737360"/>
            <a:ext cx="1240536" cy="109728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0B1F3A"/>
                </a:solidFill>
              </a:rPr>
              <a:t>7</a:t>
            </a:r>
            <a:endParaRPr lang="en-US" sz="810" dirty="0"/>
          </a:p>
          <a:p>
            <a:pPr algn="ctr" indent="0" marL="0">
              <a:buNone/>
            </a:pPr>
            <a:r>
              <a:rPr lang="en-US" sz="810" b="1" dirty="0">
                <a:solidFill>
                  <a:srgbClr val="0B1F3A"/>
                </a:solidFill>
              </a:rPr>
              <a:t>Draft outreach</a:t>
            </a:r>
            <a:endParaRPr lang="en-US" sz="810" dirty="0"/>
          </a:p>
        </p:txBody>
      </p:sp>
      <p:sp>
        <p:nvSpPr>
          <p:cNvPr id="14" name="Text 12"/>
          <p:cNvSpPr/>
          <p:nvPr/>
        </p:nvSpPr>
        <p:spPr>
          <a:xfrm>
            <a:off x="9287256" y="1737360"/>
            <a:ext cx="1240536" cy="109728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0B1F3A"/>
                </a:solidFill>
              </a:rPr>
              <a:t>8</a:t>
            </a:r>
            <a:endParaRPr lang="en-US" sz="810" dirty="0"/>
          </a:p>
          <a:p>
            <a:pPr algn="ctr" indent="0" marL="0">
              <a:buNone/>
            </a:pPr>
            <a:r>
              <a:rPr lang="en-US" sz="810" b="1" dirty="0">
                <a:solidFill>
                  <a:srgbClr val="0B1F3A"/>
                </a:solidFill>
              </a:rPr>
              <a:t>Approval package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10555224" y="1737360"/>
            <a:ext cx="1240536" cy="109728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0B1F3A"/>
                </a:solidFill>
              </a:rPr>
              <a:t>9</a:t>
            </a:r>
            <a:endParaRPr lang="en-US" sz="810" dirty="0"/>
          </a:p>
          <a:p>
            <a:pPr algn="ctr" indent="0" marL="0">
              <a:buNone/>
            </a:pPr>
            <a:r>
              <a:rPr lang="en-US" sz="810" b="1" dirty="0">
                <a:solidFill>
                  <a:srgbClr val="0B1F3A"/>
                </a:solidFill>
              </a:rPr>
              <a:t>Human decision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1188720" y="3977640"/>
            <a:ext cx="9738360" cy="114300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Inspectable artifacts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Research notes, evidence classification, qualification result, review finding, buyer hypothesis, draft, approval package.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188720" y="3977640"/>
            <a:ext cx="64008" cy="114300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WidgetWare SDR Bridge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8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Seven Steps Applied to WidgetWare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Each step becomes a concrete part of the SDR system.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3684118" cy="520065"/>
          </a:xfrm>
          <a:prstGeom prst="rect">
            <a:avLst/>
          </a:prstGeom>
          <a:solidFill>
            <a:srgbClr val="1A73E8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Step</a:t>
            </a: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4369918" y="1600200"/>
            <a:ext cx="7151522" cy="520065"/>
          </a:xfrm>
          <a:prstGeom prst="rect">
            <a:avLst/>
          </a:prstGeom>
          <a:solidFill>
            <a:srgbClr val="1A73E8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WidgetWare implementation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685800" y="2120265"/>
            <a:ext cx="3684118" cy="520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72B4D"/>
                </a:solidFill>
              </a:rPr>
              <a:t>Frame the Use Case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4369918" y="2120265"/>
            <a:ext cx="7151522" cy="520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72B4D"/>
                </a:solidFill>
              </a:rPr>
              <a:t>SDR charter, boundaries, autonomy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685800" y="2640330"/>
            <a:ext cx="3684118" cy="520065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72B4D"/>
                </a:solidFill>
              </a:rPr>
              <a:t>Build Context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4369918" y="2640330"/>
            <a:ext cx="7151522" cy="520065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72B4D"/>
                </a:solidFill>
              </a:rPr>
              <a:t>Products, ICP, policies, evidence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685800" y="3160395"/>
            <a:ext cx="3684118" cy="520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72B4D"/>
                </a:solidFill>
              </a:rPr>
              <a:t>Design Agent Capabilities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4369918" y="3160395"/>
            <a:ext cx="7151522" cy="520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72B4D"/>
                </a:solidFill>
              </a:rPr>
              <a:t>Skills, contracts, tools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685800" y="3680460"/>
            <a:ext cx="3684118" cy="520065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72B4D"/>
                </a:solidFill>
              </a:rPr>
              <a:t>Build the Harness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4369918" y="3680460"/>
            <a:ext cx="7151522" cy="520065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72B4D"/>
                </a:solidFill>
              </a:rPr>
              <a:t>Antigravity, repository, ADK, tests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685800" y="4200525"/>
            <a:ext cx="3684118" cy="520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72B4D"/>
                </a:solidFill>
              </a:rPr>
              <a:t>Orchestrate Workflows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4369918" y="4200525"/>
            <a:ext cx="7151522" cy="520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72B4D"/>
                </a:solidFill>
              </a:rPr>
              <a:t>Research → qualify → review → draft → approval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685800" y="4720590"/>
            <a:ext cx="3684118" cy="520065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72B4D"/>
                </a:solidFill>
              </a:rPr>
              <a:t>Engineer Loops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4369918" y="4720590"/>
            <a:ext cx="7151522" cy="520065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72B4D"/>
                </a:solidFill>
              </a:rPr>
              <a:t>Process account queues safely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685800" y="5240655"/>
            <a:ext cx="3684118" cy="520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72B4D"/>
                </a:solidFill>
              </a:rPr>
              <a:t>Evaluate &amp; Govern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4369918" y="5240655"/>
            <a:ext cx="7151522" cy="520065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72B4D"/>
                </a:solidFill>
              </a:rPr>
              <a:t>Tests, golden cases, traces, policies, human control</a:t>
            </a:r>
            <a:endParaRPr lang="en-US" sz="9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WidgetWare SDR Bridge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WidgetWare Grows Across the Course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Every class adds one inspectable capability to the same business system.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1874520"/>
            <a:ext cx="1113739" cy="128016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Problem + boundaries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552651" y="1874520"/>
            <a:ext cx="1113739" cy="128016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2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Harness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693822" y="1874520"/>
            <a:ext cx="1113739" cy="128016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3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Context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34994" y="1874520"/>
            <a:ext cx="1113739" cy="128016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4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First agent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76165" y="1874520"/>
            <a:ext cx="1113739" cy="1280160"/>
          </a:xfrm>
          <a:prstGeom prst="rect">
            <a:avLst/>
          </a:prstGeom>
          <a:solidFill>
            <a:srgbClr val="EEF4FB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5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Skills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117336" y="1874520"/>
            <a:ext cx="1113739" cy="128016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6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Contracts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258507" y="1874520"/>
            <a:ext cx="1113739" cy="128016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7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Tools + research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399678" y="1874520"/>
            <a:ext cx="1113739" cy="128016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8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Multi-agent workflow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540850" y="1874520"/>
            <a:ext cx="1113739" cy="128016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9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Approval + eval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682021" y="1874520"/>
            <a:ext cx="1113739" cy="128016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10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Bounded loop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17320" y="4617720"/>
            <a:ext cx="9235440" cy="64008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This is why starting each class from a known-good checkpoint matters.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WidgetWare SDR Bridge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10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Controlled Autonomy Is the Product Boundary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WidgetWare prepares. Humans authorize consequential external action.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5074920" cy="283464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WidgetWare will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Research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Recommend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Draft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Prepare an approval package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Record the human decision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508760"/>
            <a:ext cx="64008" cy="2834640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508760"/>
            <a:ext cx="5074920" cy="283464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WidgetWare will not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Select unrestricted targets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Fabricate evidence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Bypass restrictions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Send email autonomously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Modify CRM without authorization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508760"/>
            <a:ext cx="64008" cy="2834640"/>
          </a:xfrm>
          <a:prstGeom prst="rect">
            <a:avLst/>
          </a:prstGeom>
          <a:solidFill>
            <a:srgbClr val="FBBC0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983480"/>
            <a:ext cx="10149840" cy="59436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By the end of the course, learners will have engineered a bounded, evidence-backed, human-governed SDR system.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CloudKarya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WidgetWare SDR Agent Engineering Bridge</dc:title>
  <dc:subject>WidgetWare SDR Agent Engineering Bridge</dc:subject>
  <dc:creator>CloudKarya</dc:creator>
  <cp:lastModifiedBy>CloudKarya</cp:lastModifiedBy>
  <cp:revision>1</cp:revision>
  <dcterms:created xsi:type="dcterms:W3CDTF">2026-08-01T01:23:58Z</dcterms:created>
  <dcterms:modified xsi:type="dcterms:W3CDTF">2026-08-01T01:23:58Z</dcterms:modified>
</cp:coreProperties>
</file>