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5e8ce4293e4076" /><Relationship Type="http://schemas.openxmlformats.org/officeDocument/2006/relationships/extended-properties" Target="/docProps/app.xml" Id="R6a3c97658af54e6c" /><Relationship Type="http://schemas.openxmlformats.org/officeDocument/2006/relationships/officeDocument" Target="/ppt/presentation.xml" Id="R9ac5bcf3653a42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28f73c9dda4683"/>
  </p:sldMasterIdLst>
  <p:notesMasterIdLst>
    <p:notesMasterId xmlns:r="http://schemas.openxmlformats.org/officeDocument/2006/relationships" r:id="R8cce01ed1b9a4e24"/>
  </p:notesMasterIdLst>
  <p:sldIdLst>
    <p:sldId xmlns:r="http://schemas.openxmlformats.org/officeDocument/2006/relationships" id="256" r:id="Ree4dcd529c1a41f8"/>
    <p:sldId xmlns:r="http://schemas.openxmlformats.org/officeDocument/2006/relationships" id="257" r:id="R7e486e5ea39c4fa9"/>
    <p:sldId xmlns:r="http://schemas.openxmlformats.org/officeDocument/2006/relationships" id="258" r:id="R17fb22282ea14266"/>
    <p:sldId xmlns:r="http://schemas.openxmlformats.org/officeDocument/2006/relationships" id="259" r:id="R96f79f47a0274d17"/>
    <p:sldId xmlns:r="http://schemas.openxmlformats.org/officeDocument/2006/relationships" id="260" r:id="R3f6d3bd3ba2645b4"/>
    <p:sldId xmlns:r="http://schemas.openxmlformats.org/officeDocument/2006/relationships" id="261" r:id="R322c38b22509417a"/>
    <p:sldId xmlns:r="http://schemas.openxmlformats.org/officeDocument/2006/relationships" id="262" r:id="R72b2988b46894da5"/>
    <p:sldId xmlns:r="http://schemas.openxmlformats.org/officeDocument/2006/relationships" id="263" r:id="Re6f10e5a7c8c405e"/>
    <p:sldId xmlns:r="http://schemas.openxmlformats.org/officeDocument/2006/relationships" id="264" r:id="R2c552bae4c3d4204"/>
    <p:sldId xmlns:r="http://schemas.openxmlformats.org/officeDocument/2006/relationships" id="265" r:id="R5953e987eb0143a9"/>
    <p:sldId xmlns:r="http://schemas.openxmlformats.org/officeDocument/2006/relationships" id="266" r:id="Re0fa4d35084a4b7f"/>
    <p:sldId xmlns:r="http://schemas.openxmlformats.org/officeDocument/2006/relationships" id="267" r:id="R5a8ff8fb0b2d4a24"/>
    <p:sldId xmlns:r="http://schemas.openxmlformats.org/officeDocument/2006/relationships" id="268" r:id="R0c8143c7598a471f"/>
    <p:sldId xmlns:r="http://schemas.openxmlformats.org/officeDocument/2006/relationships" id="269" r:id="R329f9f9c4c9b4ed5"/>
    <p:sldId xmlns:r="http://schemas.openxmlformats.org/officeDocument/2006/relationships" id="270" r:id="Rbeb9408314c84578"/>
    <p:sldId xmlns:r="http://schemas.openxmlformats.org/officeDocument/2006/relationships" id="271" r:id="Reef59ed199164374"/>
    <p:sldId xmlns:r="http://schemas.openxmlformats.org/officeDocument/2006/relationships" id="272" r:id="Rb79b4a25fb9549b3"/>
    <p:sldId xmlns:r="http://schemas.openxmlformats.org/officeDocument/2006/relationships" id="273" r:id="Re11c31f0d85e40b5"/>
    <p:sldId xmlns:r="http://schemas.openxmlformats.org/officeDocument/2006/relationships" id="274" r:id="Re94db574dd2c471a"/>
    <p:sldId xmlns:r="http://schemas.openxmlformats.org/officeDocument/2006/relationships" id="275" r:id="Ref0641dd102043ba"/>
    <p:sldId xmlns:r="http://schemas.openxmlformats.org/officeDocument/2006/relationships" id="276" r:id="R6f12b12b76784df5"/>
    <p:sldId xmlns:r="http://schemas.openxmlformats.org/officeDocument/2006/relationships" id="277" r:id="Rd73b58a6ef8b4720"/>
    <p:sldId xmlns:r="http://schemas.openxmlformats.org/officeDocument/2006/relationships" id="278" r:id="Rd5749a6ae74e411b"/>
    <p:sldId xmlns:r="http://schemas.openxmlformats.org/officeDocument/2006/relationships" id="279" r:id="R5bb0cb3512814b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4eeb4c381241d4" /><Relationship Type="http://schemas.openxmlformats.org/officeDocument/2006/relationships/slideMaster" Target="/ppt/slideMasters/slideMaster1.xml" Id="R5328f73c9dda4683" /><Relationship Type="http://schemas.openxmlformats.org/officeDocument/2006/relationships/notesMaster" Target="/ppt/notesMasters/notesMaster1.xml" Id="R8cce01ed1b9a4e24" /><Relationship Type="http://schemas.openxmlformats.org/officeDocument/2006/relationships/presProps" Target="/ppt/presProps.xml" Id="Raf23ee37473c464b" /><Relationship Type="http://schemas.openxmlformats.org/officeDocument/2006/relationships/tableStyles" Target="/ppt/tableStyles.xml" Id="Re492ca28be704253" /><Relationship Type="http://schemas.openxmlformats.org/officeDocument/2006/relationships/slide" Target="/ppt/slides/slide1.xml" Id="Ree4dcd529c1a41f8" /><Relationship Type="http://schemas.openxmlformats.org/officeDocument/2006/relationships/slide" Target="/ppt/slides/slide2.xml" Id="R7e486e5ea39c4fa9" /><Relationship Type="http://schemas.openxmlformats.org/officeDocument/2006/relationships/slide" Target="/ppt/slides/slide3.xml" Id="R17fb22282ea14266" /><Relationship Type="http://schemas.openxmlformats.org/officeDocument/2006/relationships/slide" Target="/ppt/slides/slide4.xml" Id="R96f79f47a0274d17" /><Relationship Type="http://schemas.openxmlformats.org/officeDocument/2006/relationships/slide" Target="/ppt/slides/slide5.xml" Id="R3f6d3bd3ba2645b4" /><Relationship Type="http://schemas.openxmlformats.org/officeDocument/2006/relationships/slide" Target="/ppt/slides/slide6.xml" Id="R322c38b22509417a" /><Relationship Type="http://schemas.openxmlformats.org/officeDocument/2006/relationships/slide" Target="/ppt/slides/slide7.xml" Id="R72b2988b46894da5" /><Relationship Type="http://schemas.openxmlformats.org/officeDocument/2006/relationships/slide" Target="/ppt/slides/slide8.xml" Id="Re6f10e5a7c8c405e" /><Relationship Type="http://schemas.openxmlformats.org/officeDocument/2006/relationships/slide" Target="/ppt/slides/slide9.xml" Id="R2c552bae4c3d4204" /><Relationship Type="http://schemas.openxmlformats.org/officeDocument/2006/relationships/slide" Target="/ppt/slides/slide10.xml" Id="R5953e987eb0143a9" /><Relationship Type="http://schemas.openxmlformats.org/officeDocument/2006/relationships/slide" Target="/ppt/slides/slide11.xml" Id="Re0fa4d35084a4b7f" /><Relationship Type="http://schemas.openxmlformats.org/officeDocument/2006/relationships/slide" Target="/ppt/slides/slide12.xml" Id="R5a8ff8fb0b2d4a24" /><Relationship Type="http://schemas.openxmlformats.org/officeDocument/2006/relationships/slide" Target="/ppt/slides/slide13.xml" Id="R0c8143c7598a471f" /><Relationship Type="http://schemas.openxmlformats.org/officeDocument/2006/relationships/slide" Target="/ppt/slides/slide14.xml" Id="R329f9f9c4c9b4ed5" /><Relationship Type="http://schemas.openxmlformats.org/officeDocument/2006/relationships/slide" Target="/ppt/slides/slide15.xml" Id="Rbeb9408314c84578" /><Relationship Type="http://schemas.openxmlformats.org/officeDocument/2006/relationships/slide" Target="/ppt/slides/slide16.xml" Id="Reef59ed199164374" /><Relationship Type="http://schemas.openxmlformats.org/officeDocument/2006/relationships/slide" Target="/ppt/slides/slide17.xml" Id="Rb79b4a25fb9549b3" /><Relationship Type="http://schemas.openxmlformats.org/officeDocument/2006/relationships/slide" Target="/ppt/slides/slide18.xml" Id="Re11c31f0d85e40b5" /><Relationship Type="http://schemas.openxmlformats.org/officeDocument/2006/relationships/slide" Target="/ppt/slides/slide19.xml" Id="Re94db574dd2c471a" /><Relationship Type="http://schemas.openxmlformats.org/officeDocument/2006/relationships/slide" Target="/ppt/slides/slide20.xml" Id="Ref0641dd102043ba" /><Relationship Type="http://schemas.openxmlformats.org/officeDocument/2006/relationships/slide" Target="/ppt/slides/slide21.xml" Id="R6f12b12b76784df5" /><Relationship Type="http://schemas.openxmlformats.org/officeDocument/2006/relationships/slide" Target="/ppt/slides/slide22.xml" Id="Rd73b58a6ef8b4720" /><Relationship Type="http://schemas.openxmlformats.org/officeDocument/2006/relationships/slide" Target="/ppt/slides/slide23.xml" Id="Rd5749a6ae74e411b" /><Relationship Type="http://schemas.openxmlformats.org/officeDocument/2006/relationships/slide" Target="/ppt/slides/slide24.xml" Id="R5bb0cb3512814b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6585ed9974e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a68504c4ae4f0b" /><Relationship Type="http://schemas.openxmlformats.org/officeDocument/2006/relationships/notesMaster" Target="/ppt/notesMasters/notesMaster1.xml" Id="Rb749e8de8bce44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5ecf69f7d4a83" /><Relationship Type="http://schemas.openxmlformats.org/officeDocument/2006/relationships/notesMaster" Target="/ppt/notesMasters/notesMaster1.xml" Id="R2de479ff53be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bec89fe2a4604" /><Relationship Type="http://schemas.openxmlformats.org/officeDocument/2006/relationships/notesMaster" Target="/ppt/notesMasters/notesMaster1.xml" Id="Rec10303297ec4d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ce2a61960b4d0e" /><Relationship Type="http://schemas.openxmlformats.org/officeDocument/2006/relationships/notesMaster" Target="/ppt/notesMasters/notesMaster1.xml" Id="R94bcec68e70c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bb3610568d4a49" /><Relationship Type="http://schemas.openxmlformats.org/officeDocument/2006/relationships/notesMaster" Target="/ppt/notesMasters/notesMaster1.xml" Id="R3bac151f23774d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620cdc30a45ee" /><Relationship Type="http://schemas.openxmlformats.org/officeDocument/2006/relationships/notesMaster" Target="/ppt/notesMasters/notesMaster1.xml" Id="R2b3c98ce2c4246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3165efae8c4a33" /><Relationship Type="http://schemas.openxmlformats.org/officeDocument/2006/relationships/notesMaster" Target="/ppt/notesMasters/notesMaster1.xml" Id="R52aaaa5bcd0448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8d0cb456a3480f" /><Relationship Type="http://schemas.openxmlformats.org/officeDocument/2006/relationships/notesMaster" Target="/ppt/notesMasters/notesMaster1.xml" Id="Radc1f81a680c4f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62622923ef44b7" /><Relationship Type="http://schemas.openxmlformats.org/officeDocument/2006/relationships/notesMaster" Target="/ppt/notesMasters/notesMaster1.xml" Id="Rcbd371e27e344a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011802c3b44e6c" /><Relationship Type="http://schemas.openxmlformats.org/officeDocument/2006/relationships/notesMaster" Target="/ppt/notesMasters/notesMaster1.xml" Id="Re9897c2a137544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1a0e24a87d4edb" /><Relationship Type="http://schemas.openxmlformats.org/officeDocument/2006/relationships/notesMaster" Target="/ppt/notesMasters/notesMaster1.xml" Id="R3a2d5725f16647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bf298208f84494" /><Relationship Type="http://schemas.openxmlformats.org/officeDocument/2006/relationships/notesMaster" Target="/ppt/notesMasters/notesMaster1.xml" Id="R431e3d0e44774d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61cbb605464a7b" /><Relationship Type="http://schemas.openxmlformats.org/officeDocument/2006/relationships/notesMaster" Target="/ppt/notesMasters/notesMaster1.xml" Id="R6c5de879e8fc40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5d4b578f93497b" /><Relationship Type="http://schemas.openxmlformats.org/officeDocument/2006/relationships/notesMaster" Target="/ppt/notesMasters/notesMaster1.xml" Id="R30d6b592fc1e4b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c17b0498ba4287" /><Relationship Type="http://schemas.openxmlformats.org/officeDocument/2006/relationships/notesMaster" Target="/ppt/notesMasters/notesMaster1.xml" Id="R58775f48f4d04a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2edbb3f8b04da0" /><Relationship Type="http://schemas.openxmlformats.org/officeDocument/2006/relationships/notesMaster" Target="/ppt/notesMasters/notesMaster1.xml" Id="R2f5b062daa1240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bcc8a2e8bd4619" /><Relationship Type="http://schemas.openxmlformats.org/officeDocument/2006/relationships/notesMaster" Target="/ppt/notesMasters/notesMaster1.xml" Id="Ree660884466541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adf830e7704d01" /><Relationship Type="http://schemas.openxmlformats.org/officeDocument/2006/relationships/notesMaster" Target="/ppt/notesMasters/notesMaster1.xml" Id="R5546340a97874f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46cba0e2904f0b" /><Relationship Type="http://schemas.openxmlformats.org/officeDocument/2006/relationships/notesMaster" Target="/ppt/notesMasters/notesMaster1.xml" Id="R4f327e9280b947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75f1ba58434f79" /><Relationship Type="http://schemas.openxmlformats.org/officeDocument/2006/relationships/notesMaster" Target="/ppt/notesMasters/notesMaster1.xml" Id="R497eecde268940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4b0bc9daa442f5" /><Relationship Type="http://schemas.openxmlformats.org/officeDocument/2006/relationships/notesMaster" Target="/ppt/notesMasters/notesMaster1.xml" Id="Rf06e427a50db42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853813979a466a" /><Relationship Type="http://schemas.openxmlformats.org/officeDocument/2006/relationships/notesMaster" Target="/ppt/notesMasters/notesMaster1.xml" Id="R8985c624157d48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bcdc26acf04cbf" /><Relationship Type="http://schemas.openxmlformats.org/officeDocument/2006/relationships/notesMaster" Target="/ppt/notesMasters/notesMaster1.xml" Id="Rb7a90d8a1e4245e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bdf4f6648ef4653" /><Relationship Type="http://schemas.openxmlformats.org/officeDocument/2006/relationships/notesMaster" Target="/ppt/notesMasters/notesMaster1.xml" Id="R865d9b118a4045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Today we will grow one useful agent into a controlled team of agents.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Begin with the simplest architecture that can do the job.</a:t>
            </a:r>
          </a:p>
          <a:p xmlns:a="http://schemas.openxmlformats.org/drawingml/2006/main">
            <a:r>
              <a:t>- Separate adaptive delegation from deterministic workflow control.</a:t>
            </a:r>
          </a:p>
          <a:p xmlns:a="http://schemas.openxmlformats.org/drawingml/2006/main">
            <a:r>
              <a:t>- Use state to pass durable facts and outputs between specialists.</a:t>
            </a:r>
          </a:p>
          <a:p xmlns:a="http://schemas.openxmlformats.org/drawingml/2006/main">
            <a:r>
              <a:t>- Use sequence for dependency, loop for refinement, and parallel branches for independence.</a:t>
            </a:r>
          </a:p>
          <a:p xmlns:a="http://schemas.openxmlformats.org/drawingml/2006/main">
            <a:r>
              <a:t>- The movie-pitch lab gives us one concrete system that combines all three patterns.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By the end, each orchestration choice should feel like an engineering decision, not a vocabulary exercise.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lab package: class-02B.zip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We will add orchestration one control problem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 single agent establishes the basic agent contract.</a:t>
            </a:r>
          </a:p>
          <a:p xmlns:a="http://schemas.openxmlformats.org/drawingml/2006/main">
            <a:r>
              <a:t>- A multi-agent hierarchy adds specialization and delegation.</a:t>
            </a:r>
          </a:p>
          <a:p xmlns:a="http://schemas.openxmlformats.org/drawingml/2006/main">
            <a:r>
              <a:t>- A sequential workflow fixes the order of dependent work.</a:t>
            </a:r>
          </a:p>
          <a:p xmlns:a="http://schemas.openxmlformats.org/drawingml/2006/main">
            <a:r>
              <a:t>- A loop adds bounded improvement and a quality gate.</a:t>
            </a:r>
          </a:p>
          <a:p xmlns:a="http://schemas.openxmlformats.org/drawingml/2006/main">
            <a:r>
              <a:t>- Parallel execution adds independent branches and a gather step.</a:t>
            </a:r>
          </a:p>
          <a:p xmlns:a="http://schemas.openxmlformats.org/drawingml/2006/main">
            <a:r>
              <a:t>- The progression is cumulative; later patterns can contain earlier 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Do not start with the most complex topology; earn each layer of orchestration.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model is only one part of an agent; engineering lives in the harness around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Instructions define the job and the boundaries of the job.</a:t>
            </a:r>
          </a:p>
          <a:p xmlns:a="http://schemas.openxmlformats.org/drawingml/2006/main">
            <a:r>
              <a:t>- Tools allow the agent to read, calculate, call services, or write artifacts.</a:t>
            </a:r>
          </a:p>
          <a:p xmlns:a="http://schemas.openxmlformats.org/drawingml/2006/main">
            <a:r>
              <a:t>- Context includes the prompt, conversation history, retrieved knowledge, and state.</a:t>
            </a:r>
          </a:p>
          <a:p xmlns:a="http://schemas.openxmlformats.org/drawingml/2006/main">
            <a:r>
              <a:t>- The runtime decides how work is invoked, observed, retried, and stopped.</a:t>
            </a:r>
          </a:p>
          <a:p xmlns:a="http://schemas.openxmlformats.org/drawingml/2006/main">
            <a:r>
              <a:t>- A strong model with a weak harness is still an unreliable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Treat agent quality as a system property, not a model property.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overview: https://google.github.io/adk-docs/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 single agent is not a toy; it is the correct architecture for a bounded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user has one conversation partner and one decision-maker.</a:t>
            </a:r>
          </a:p>
          <a:p xmlns:a="http://schemas.openxmlformats.org/drawingml/2006/main">
            <a:r>
              <a:t>- The agent may still use several tools and maintain state.</a:t>
            </a:r>
          </a:p>
          <a:p xmlns:a="http://schemas.openxmlformats.org/drawingml/2006/main">
            <a:r>
              <a:t>- The design is easy to observe because ownership is unambiguous.</a:t>
            </a:r>
          </a:p>
          <a:p xmlns:a="http://schemas.openxmlformats.org/drawingml/2006/main">
            <a:r>
              <a:t>- It is usually cheaper and faster than coordinating multiple agents.</a:t>
            </a:r>
          </a:p>
          <a:p xmlns:a="http://schemas.openxmlformats.org/drawingml/2006/main">
            <a:r>
              <a:t>- Move beyond one agent only when specialization or control produces a real benefit.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Prefer one capable agent until its responsibilities stop being coherent.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agents overview: https://google.github.io/adk-docs/agents/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Multi-agent architecture is justified by conflicting responsibilities, not by fashion.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 long prompt often hides several distinct jobs.</a:t>
            </a:r>
          </a:p>
          <a:p xmlns:a="http://schemas.openxmlformats.org/drawingml/2006/main">
            <a:r>
              <a:t>- Many tools increase the chance of the wrong tool being chosen.</a:t>
            </a:r>
          </a:p>
          <a:p xmlns:a="http://schemas.openxmlformats.org/drawingml/2006/main">
            <a:r>
              <a:t>- Specialists create smaller surfaces for testing and improvement.</a:t>
            </a:r>
          </a:p>
          <a:p xmlns:a="http://schemas.openxmlformats.org/drawingml/2006/main">
            <a:r>
              <a:t>- Descriptions become routing metadata, not just documentation.</a:t>
            </a:r>
          </a:p>
          <a:p xmlns:a="http://schemas.openxmlformats.org/drawingml/2006/main">
            <a:r>
              <a:t>- The cost is coordination, latency, and more state to observe.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Split an agent only when the resulting boundaries are clearer than the coordination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Multiple agents become a system only when we define how they coordinate.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Roles answer who owns each part of the outcome.</a:t>
            </a:r>
          </a:p>
          <a:p xmlns:a="http://schemas.openxmlformats.org/drawingml/2006/main">
            <a:r>
              <a:t>- Routing answers who acts next when the choice is adaptive.</a:t>
            </a:r>
          </a:p>
          <a:p xmlns:a="http://schemas.openxmlformats.org/drawingml/2006/main">
            <a:r>
              <a:t>- State answers how outputs and decisions survive across the workflow.</a:t>
            </a:r>
          </a:p>
          <a:p xmlns:a="http://schemas.openxmlformats.org/drawingml/2006/main">
            <a:r>
              <a:t>- Control answers which paths are allowed and when execution stops.</a:t>
            </a:r>
          </a:p>
          <a:p xmlns:a="http://schemas.openxmlformats.org/drawingml/2006/main">
            <a:r>
              <a:t>- Observability lets us inspect which agent acted and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The agents are components; the coordination contract is the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multi-agent workflows: https://google.github.io/adk-docs/agents/multi-agents/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ADK organizes delegated agents as a tree rooted at root_agent.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conversation begins with the object assigned to root_agent.</a:t>
            </a:r>
          </a:p>
          <a:p xmlns:a="http://schemas.openxmlformats.org/drawingml/2006/main">
            <a:r>
              <a:t>- A parent lists its sub-agents; sub-agents do not need a parent parameter.</a:t>
            </a:r>
          </a:p>
          <a:p xmlns:a="http://schemas.openxmlformats.org/drawingml/2006/main">
            <a:r>
              <a:t>- Descriptions help the parent decide which specialist should receive control.</a:t>
            </a:r>
          </a:p>
          <a:p xmlns:a="http://schemas.openxmlformats.org/drawingml/2006/main">
            <a:r>
              <a:t>- Sub-agents can themselves be parents, producing nested teams.</a:t>
            </a:r>
          </a:p>
          <a:p xmlns:a="http://schemas.openxmlformats.org/drawingml/2006/main">
            <a:r>
              <a:t>- The tree narrows possible routes and makes debugging easier.</a:t>
            </a:r>
          </a:p>
          <a:p xmlns:a="http://schemas.openxmlformats.org/drawingml/2006/main">
            <a:r>
              <a:t>- Peer transfers can be allowed or restricted based on the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Hierarchy is a control surface for delegation, not merely an organization chart.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user-supplied c411ea1c-03d0-4f09-bf86-f1e7ceb7bbee.png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crucial distinction is who decides what happens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In delegated routing, an LLM interprets the request and selects a specialist.</a:t>
            </a:r>
          </a:p>
          <a:p xmlns:a="http://schemas.openxmlformats.org/drawingml/2006/main">
            <a:r>
              <a:t>- The parent uses agent names, descriptions, and instructions as routing context.</a:t>
            </a:r>
          </a:p>
          <a:p xmlns:a="http://schemas.openxmlformats.org/drawingml/2006/main">
            <a:r>
              <a:t>- In workflow orchestration, code defines sequence, repetition, or concurrency.</a:t>
            </a:r>
          </a:p>
          <a:p xmlns:a="http://schemas.openxmlformats.org/drawingml/2006/main">
            <a:r>
              <a:t>- Workflow agents do not need an LLM to decide their own execution pattern.</a:t>
            </a:r>
          </a:p>
          <a:p xmlns:a="http://schemas.openxmlformats.org/drawingml/2006/main">
            <a:r>
              <a:t>- The movie-pitch example uses both: the greeter transfers, then workflows take 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Use model judgment for ambiguity and code for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template workflows: https://google.github.io/adk-docs/agents/workflow-agents/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State is how agents coordinate without stuffing every detail into a new user 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Every agent in a session can access the same session state dictionary.</a:t>
            </a:r>
          </a:p>
          <a:p xmlns:a="http://schemas.openxmlformats.org/drawingml/2006/main">
            <a:r>
              <a:t>- A tool can update state through ToolContext and produce a state delta event.</a:t>
            </a:r>
          </a:p>
          <a:p xmlns:a="http://schemas.openxmlformats.org/drawingml/2006/main">
            <a:r>
              <a:t>- Instruction templating such as { PLOT_OUTLINE? } reads a state value safely.</a:t>
            </a:r>
          </a:p>
          <a:p xmlns:a="http://schemas.openxmlformats.org/drawingml/2006/main">
            <a:r>
              <a:t>- The question mark avoids failure when an optional key is absent.</a:t>
            </a:r>
          </a:p>
          <a:p xmlns:a="http://schemas.openxmlformats.org/drawingml/2006/main">
            <a:r>
              <a:t>- output_key stores an agent's final response under a named state key.</a:t>
            </a:r>
          </a:p>
          <a:p xmlns:a="http://schemas.openxmlformats.org/drawingml/2006/main">
            <a:r>
              <a:t>- In the Dev UI, inspect both events and state to understand the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State turns a set of agents into a coordinated workflow with explicit intermediate artifacts.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state documentation: https://google.github.io/adk-docs/sessions/state/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Sequential, loop, and parallel are not competing products; they encode different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Sequential makes ordering explicit and predictable.</a:t>
            </a:r>
          </a:p>
          <a:p xmlns:a="http://schemas.openxmlformats.org/drawingml/2006/main">
            <a:r>
              <a:t>- Loop makes repeated improvement explicit and bounded.</a:t>
            </a:r>
          </a:p>
          <a:p xmlns:a="http://schemas.openxmlformats.org/drawingml/2006/main">
            <a:r>
              <a:t>- Parallel makes independence explicit and can reduce elapsed time.</a:t>
            </a:r>
          </a:p>
          <a:p xmlns:a="http://schemas.openxmlformats.org/drawingml/2006/main">
            <a:r>
              <a:t>- The workflow object controls the pattern without consulting a model.</a:t>
            </a:r>
          </a:p>
          <a:p xmlns:a="http://schemas.openxmlformats.org/drawingml/2006/main">
            <a:r>
              <a:t>- Each sub-agent inside the pattern may still be model-driven.</a:t>
            </a:r>
          </a:p>
          <a:p xmlns:a="http://schemas.openxmlformats.org/drawingml/2006/main">
            <a:r>
              <a:t>- Nested workflows let one system use all three patterns.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Choose the workflow shape from the dependency structure of the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template workflows: https://google.github.io/adk-docs/agents/workflow-agents/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Use a sequence when the output of one step is an input to the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sub_agents list is the execution order.</a:t>
            </a:r>
          </a:p>
          <a:p xmlns:a="http://schemas.openxmlformats.org/drawingml/2006/main">
            <a:r>
              <a:t>- The orchestrator calls each sub-agent one after another.</a:t>
            </a:r>
          </a:p>
          <a:p xmlns:a="http://schemas.openxmlformats.org/drawingml/2006/main">
            <a:r>
              <a:t>- The movie workflow researches before it drafts and drafts before it writes.</a:t>
            </a:r>
          </a:p>
          <a:p xmlns:a="http://schemas.openxmlformats.org/drawingml/2006/main">
            <a:r>
              <a:t>- State keys provide explicit intermediate outputs between the steps.</a:t>
            </a:r>
          </a:p>
          <a:p xmlns:a="http://schemas.openxmlformats.org/drawingml/2006/main">
            <a:r>
              <a:t>- A deterministic sequence reduces the chance that a model skips a required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If step B cannot be correct before step A finishes, model the work as a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SequentialAgent: https://google.github.io/adk-docs/agents/workflow-agents/sequential-agents/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starter workflow turns a small user request into a complete file without another user 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greeter asks for a historical subject and stores it in PROMPT.</a:t>
            </a:r>
          </a:p>
          <a:p xmlns:a="http://schemas.openxmlformats.org/drawingml/2006/main">
            <a:r>
              <a:t>- The researcher uses Wikipedia and appends findings to research state.</a:t>
            </a:r>
          </a:p>
          <a:p xmlns:a="http://schemas.openxmlformats.org/drawingml/2006/main">
            <a:r>
              <a:t>- The screenwriter creates a logline and three-act outline in PLOT_OUTLINE.</a:t>
            </a:r>
          </a:p>
          <a:p xmlns:a="http://schemas.openxmlformats.org/drawingml/2006/main">
            <a:r>
              <a:t>- The file_writer turns the accumulated state into a saved pitch file.</a:t>
            </a:r>
          </a:p>
          <a:p xmlns:a="http://schemas.openxmlformats.org/drawingml/2006/main">
            <a:r>
              <a:t>- The sequence owns the handoff; the user does not manually advance the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The pipeline is simple because every downstream step depends on the one before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user-supplied bc7bd81e-c6e7-499c-bc0f-fecc681f55e9.png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 loop is useful only when it knows both how to improve and how to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loop repeats its listed sub-agents in the same order.</a:t>
            </a:r>
          </a:p>
          <a:p xmlns:a="http://schemas.openxmlformats.org/drawingml/2006/main">
            <a:r>
              <a:t>- Researcher and screenwriter improve the shared artifact each pass.</a:t>
            </a:r>
          </a:p>
          <a:p xmlns:a="http://schemas.openxmlformats.org/drawingml/2006/main">
            <a:r>
              <a:t>- The critic uses exit_loop when the quality questions are satisfied.</a:t>
            </a:r>
          </a:p>
          <a:p xmlns:a="http://schemas.openxmlformats.org/drawingml/2006/main">
            <a:r>
              <a:t>- Otherwise the critic writes CRITICAL_FEEDBACK for the next pass.</a:t>
            </a:r>
          </a:p>
          <a:p xmlns:a="http://schemas.openxmlformats.org/drawingml/2006/main">
            <a:r>
              <a:t>- max_iterations is a safety boundary even when an exit tool exists.</a:t>
            </a:r>
          </a:p>
          <a:p xmlns:a="http://schemas.openxmlformats.org/drawingml/2006/main">
            <a:r>
              <a:t>- Without a quality signal, a loop is repetition rather than refinement.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Every production loop needs a quality condition and a hard execution cap.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LoopAgent: https://google.github.io/adk-docs/agents/workflow-agents/loop-agents/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writers_room nests a loop inside the larger film_concept_team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outer sequence still begins with the writers_room and ends with file_writer.</a:t>
            </a:r>
          </a:p>
          <a:p xmlns:a="http://schemas.openxmlformats.org/drawingml/2006/main">
            <a:r>
              <a:t>- Inside the loop, researcher, screenwriter, and critic run in order.</a:t>
            </a:r>
          </a:p>
          <a:p xmlns:a="http://schemas.openxmlformats.org/drawingml/2006/main">
            <a:r>
              <a:t>- The critic either adds feedback or calls exit_loop.</a:t>
            </a:r>
          </a:p>
          <a:p xmlns:a="http://schemas.openxmlformats.org/drawingml/2006/main">
            <a:r>
              <a:t>- State preserves research, outline revisions, and critical feedback across passes.</a:t>
            </a:r>
          </a:p>
          <a:p xmlns:a="http://schemas.openxmlformats.org/drawingml/2006/main">
            <a:r>
              <a:t>- When the loop exits, control returns to the outer sequence automatically.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Nesting lets a bounded iterative process behave like one step in a larger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user-supplied f5396842-7ba7-43f1-afd9-c965e3b13328.png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Parallel execution works when branches can start from the same input without waiting on one another.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All parallel sub-agents are started at approximately the same time.</a:t>
            </a:r>
          </a:p>
          <a:p xmlns:a="http://schemas.openxmlformats.org/drawingml/2006/main">
            <a:r>
              <a:t>- Each branch runs independently and completion order is not guaranteed.</a:t>
            </a:r>
          </a:p>
          <a:p xmlns:a="http://schemas.openxmlformats.org/drawingml/2006/main">
            <a:r>
              <a:t>- The box-office and casting analyses both depend on the plot, not on each other.</a:t>
            </a:r>
          </a:p>
          <a:p xmlns:a="http://schemas.openxmlformats.org/drawingml/2006/main">
            <a:r>
              <a:t>- Each branch writes to a separate output_key to avoid collisions.</a:t>
            </a:r>
          </a:p>
          <a:p xmlns:a="http://schemas.openxmlformats.org/drawingml/2006/main">
            <a:r>
              <a:t>- A later file_writer gathers both results into the final artifact.</a:t>
            </a:r>
          </a:p>
          <a:p xmlns:a="http://schemas.openxmlformats.org/drawingml/2006/main">
            <a:r>
              <a:t>- Do not place a dependent step in a parallel branch just to gain speed.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Parallelize independence; sequence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ParallelAgent: https://google.github.io/adk-docs/agents/workflow-agents/parallel-agents/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final lab architecture adds parallel enrichment after the writers' room finishes.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completed PLOT_OUTLINE becomes the shared input to both branches.</a:t>
            </a:r>
          </a:p>
          <a:p xmlns:a="http://schemas.openxmlformats.org/drawingml/2006/main">
            <a:r>
              <a:t>- box_office_researcher writes box_office_report.</a:t>
            </a:r>
          </a:p>
          <a:p xmlns:a="http://schemas.openxmlformats.org/drawingml/2006/main">
            <a:r>
              <a:t>- casting_agent writes casting_report.</a:t>
            </a:r>
          </a:p>
          <a:p xmlns:a="http://schemas.openxmlformats.org/drawingml/2006/main">
            <a:r>
              <a:t>- The ParallelAgent waits for its sub-agents to complete before the outer sequence advances.</a:t>
            </a:r>
          </a:p>
          <a:p xmlns:a="http://schemas.openxmlformats.org/drawingml/2006/main">
            <a:r>
              <a:t>- file_writer gathers the outline and both reports into one saved pitch.</a:t>
            </a:r>
          </a:p>
          <a:p xmlns:a="http://schemas.openxmlformats.org/drawingml/2006/main">
            <a:r>
              <a:t>- This is the classic fan-out and gather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 gather step turns independent parallel outputs into one useful deliverable.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user-supplied 4c86ce65-7b7c-4e8e-bebc-5fed2697b38e.png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architecture is one outer sequence containing a loop and a parallel branch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greeter provides adaptive transfer from user interaction into the workflow.</a:t>
            </a:r>
          </a:p>
          <a:p xmlns:a="http://schemas.openxmlformats.org/drawingml/2006/main">
            <a:r>
              <a:t>- film_concept_team guarantees the macro order.</a:t>
            </a:r>
          </a:p>
          <a:p xmlns:a="http://schemas.openxmlformats.org/drawingml/2006/main">
            <a:r>
              <a:t>- writers_room performs iterative improvement as one nested stage.</a:t>
            </a:r>
          </a:p>
          <a:p xmlns:a="http://schemas.openxmlformats.org/drawingml/2006/main">
            <a:r>
              <a:t>- preproduction_team performs independent enrichment as the next stage.</a:t>
            </a:r>
          </a:p>
          <a:p xmlns:a="http://schemas.openxmlformats.org/drawingml/2006/main">
            <a:r>
              <a:t>- file_writer gathers state and persists the final result.</a:t>
            </a:r>
          </a:p>
          <a:p xmlns:a="http://schemas.openxmlformats.org/drawingml/2006/main">
            <a:r>
              <a:t>- The topology mirrors the dependency graph of the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Good orchestration is compositional: each pattern handles the part of control it is best 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user-supplied 343207aa-251d-49cb-94c9-ca915b36f0ea.png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ADK makes the topology visible in a few composition objects.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Agent sub_agents establish the delegated hierarchy.</a:t>
            </a:r>
          </a:p>
          <a:p xmlns:a="http://schemas.openxmlformats.org/drawingml/2006/main">
            <a:r>
              <a:t>- SequentialAgent expresses the required order directly in a list.</a:t>
            </a:r>
          </a:p>
          <a:p xmlns:a="http://schemas.openxmlformats.org/drawingml/2006/main">
            <a:r>
              <a:t>- LoopAgent adds max_iterations and relies on exit_loop for early completion.</a:t>
            </a:r>
          </a:p>
          <a:p xmlns:a="http://schemas.openxmlformats.org/drawingml/2006/main">
            <a:r>
              <a:t>- ParallelAgent lists branches that may run concurrently.</a:t>
            </a:r>
          </a:p>
          <a:p xmlns:a="http://schemas.openxmlformats.org/drawingml/2006/main">
            <a:r>
              <a:t>- The agents' instructions and state keys define the data contract across this topology.</a:t>
            </a:r>
          </a:p>
          <a:p xmlns:a="http://schemas.openxmlformats.org/drawingml/2006/main">
            <a:r>
              <a:t>- Readable composition is one reason to prefer several focused agents over one tangled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The topology should be understandable from the composition code before reading every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starter source: class-02B.zip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Each milestone should run before the next pattern is introduced.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First prove the environment and package structure.</a:t>
            </a:r>
          </a:p>
          <a:p xmlns:a="http://schemas.openxmlformats.org/drawingml/2006/main">
            <a:r>
              <a:t>- Select one authentication mode and validate it without printing secrets.</a:t>
            </a:r>
          </a:p>
          <a:p xmlns:a="http://schemas.openxmlformats.org/drawingml/2006/main">
            <a:r>
              <a:t>- Run the root agent before adding relationships.</a:t>
            </a:r>
          </a:p>
          <a:p xmlns:a="http://schemas.openxmlformats.org/drawingml/2006/main">
            <a:r>
              <a:t>- Test each delegation path with a deliberate prompt.</a:t>
            </a:r>
          </a:p>
          <a:p xmlns:a="http://schemas.openxmlformats.org/drawingml/2006/main">
            <a:r>
              <a:t>- Use the Dev UI to inspect state before adding workflow complexity.</a:t>
            </a:r>
          </a:p>
          <a:p xmlns:a="http://schemas.openxmlformats.org/drawingml/2006/main">
            <a:r>
              <a:t>- Add loop and parallel stages separately so failures remain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Incremental construction makes orchestration failures diagnosable.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lab package: class-02B.zip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 plausible final answer can hide the wrong route, skipped tools, or missing state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Use adk run for a quick terminal conversation.</a:t>
            </a:r>
          </a:p>
          <a:p xmlns:a="http://schemas.openxmlformats.org/drawingml/2006/main">
            <a:r>
              <a:t>- Use adk web from the directory containing the agent folders.</a:t>
            </a:r>
          </a:p>
          <a:p xmlns:a="http://schemas.openxmlformats.org/drawingml/2006/main">
            <a:r>
              <a:t>- In the Dev UI, confirm which named agent produced each event.</a:t>
            </a:r>
          </a:p>
          <a:p xmlns:a="http://schemas.openxmlformats.org/drawingml/2006/main">
            <a:r>
              <a:t>- Open tool events and verify state_delta contains the expected changes.</a:t>
            </a:r>
          </a:p>
          <a:p xmlns:a="http://schemas.openxmlformats.org/drawingml/2006/main">
            <a:r>
              <a:t>- Inspect the State tab for PROMPT, research, outline, feedback, and branch reports.</a:t>
            </a:r>
          </a:p>
          <a:p xmlns:a="http://schemas.openxmlformats.org/drawingml/2006/main">
            <a:r>
              <a:t>- Finally inspect the saved file, because persistence is part of the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Validate the execution path and intermediate state, not only the prose at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web interface: https://google.github.io/adk-docs/runtime/web-interface/</a:t>
            </a:r>
          </a:p>
          <a:p xmlns:a="http://schemas.openxmlformats.org/drawingml/2006/main">
            <a:r>
              <a:t>- Google ADK command line: https://google.github.io/adk-docs/runtime/command-line/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Both environment modes can run the same agent code, but the credential source must be unambiguous.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Vertex AI mode sets GOOGLE_GENAI_USE_VERTEXAI to TRUE.</a:t>
            </a:r>
          </a:p>
          <a:p xmlns:a="http://schemas.openxmlformats.org/drawingml/2006/main">
            <a:r>
              <a:t>- It also needs a project, location, and Application Default Credentials.</a:t>
            </a:r>
          </a:p>
          <a:p xmlns:a="http://schemas.openxmlformats.org/drawingml/2006/main">
            <a:r>
              <a:t>- API-key mode sets GOOGLE_GENAI_USE_VERTEXAI to FALSE and supplies GOOGLE_API_KEY.</a:t>
            </a:r>
          </a:p>
          <a:p xmlns:a="http://schemas.openxmlformats.org/drawingml/2006/main">
            <a:r>
              <a:t>- MODEL remains an environment variable so the code is portable.</a:t>
            </a:r>
          </a:p>
          <a:p xmlns:a="http://schemas.openxmlformats.org/drawingml/2006/main">
            <a:r>
              <a:t>- The starter's Cloud Logging initialization should fall back to standard logging in API-key-only environments.</a:t>
            </a:r>
          </a:p>
          <a:p xmlns:a="http://schemas.openxmlformats.org/drawingml/2006/main">
            <a:r>
              <a:t>- Never commit a real API key or a populated .env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One codebase can support both routes when authentication and logging are cleanly separated.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Gemini authentication: https://google.github.io/adk-docs/agents/models/google-gemini/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Orchestration increases the number of places a run can fail, so controls must scale with topology.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before_model_callback and after_model_callback expose model interactions.</a:t>
            </a:r>
          </a:p>
          <a:p xmlns:a="http://schemas.openxmlformats.org/drawingml/2006/main">
            <a:r>
              <a:t>- HttpRetryOptions handles transient failures with bounded attempts and delays.</a:t>
            </a:r>
          </a:p>
          <a:p xmlns:a="http://schemas.openxmlformats.org/drawingml/2006/main">
            <a:r>
              <a:t>- max_iterations puts a hard ceiling on iterative workflows.</a:t>
            </a:r>
          </a:p>
          <a:p xmlns:a="http://schemas.openxmlformats.org/drawingml/2006/main">
            <a:r>
              <a:t>- The supplied Graceful429Plugin converts quota exhaustion into a controlled response.</a:t>
            </a:r>
          </a:p>
          <a:p xmlns:a="http://schemas.openxmlformats.org/drawingml/2006/main">
            <a:r>
              <a:t>- State and event inspection reveal partial progress before a failure.</a:t>
            </a:r>
          </a:p>
          <a:p xmlns:a="http://schemas.openxmlformats.org/drawingml/2006/main">
            <a:r>
              <a:t>- The goal is not to hide failure; it is to make failure understandable and recoverable.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Every new branch, loop, or handoff should add a corresponding observation and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source files: callback_logging.py and adk_utils/plugins.py</a:t>
            </a:r>
          </a:p>
          <a:p xmlns:a="http://schemas.openxmlformats.org/drawingml/2006/main">
            <a:r>
              <a:t>- Google ADK logging: https://google.github.io/adk-docs/observability/logging/</a:t>
            </a:r>
          </a:p>
          <a:p xmlns:a="http://schemas.openxmlformats.org/drawingml/2006/main">
            <a:r>
              <a:t>- Google ADK callbacks: https://google.github.io/adk-docs/callbacks/types-of-callbacks/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topology is a direct answer to the dependency structure of the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If one coherent owner can finish, keep one agent.</a:t>
            </a:r>
          </a:p>
          <a:p xmlns:a="http://schemas.openxmlformats.org/drawingml/2006/main">
            <a:r>
              <a:t>- If intent determines the specialist, use delegated routing.</a:t>
            </a:r>
          </a:p>
          <a:p xmlns:a="http://schemas.openxmlformats.org/drawingml/2006/main">
            <a:r>
              <a:t>- If outputs form a dependency chain, use a sequence.</a:t>
            </a:r>
          </a:p>
          <a:p xmlns:a="http://schemas.openxmlformats.org/drawingml/2006/main">
            <a:r>
              <a:t>- If the same artifact needs repeated improvement, use a bounded loop.</a:t>
            </a:r>
          </a:p>
          <a:p xmlns:a="http://schemas.openxmlformats.org/drawingml/2006/main">
            <a:r>
              <a:t>- If tasks can start independently from the same input, use parallel branches.</a:t>
            </a:r>
          </a:p>
          <a:p xmlns:a="http://schemas.openxmlformats.org/drawingml/2006/main">
            <a:r>
              <a:t>- If none of these express the requirement, consider a custom or graph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Name the dependency first; the right orchestration pattern usually follows.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multi-agent workflows: https://google.github.io/adk-docs/agents/multi-agents/</a:t>
            </a:r>
          </a:p>
          <a:p xmlns:a="http://schemas.openxmlformats.org/drawingml/2006/main">
            <a:r>
              <a:t>- Google ADK custom workflows: https://google.github.io/adk-docs/agents/custom-agents/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goal is not more agents; the goal is clearer, more reliable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 single agent is the default when one responsibility remains coherent.</a:t>
            </a:r>
          </a:p>
          <a:p xmlns:a="http://schemas.openxmlformats.org/drawingml/2006/main">
            <a:r>
              <a:t>- Delegation uses model judgment to select specialists.</a:t>
            </a:r>
          </a:p>
          <a:p xmlns:a="http://schemas.openxmlformats.org/drawingml/2006/main">
            <a:r>
              <a:t>- Workflow agents use code to guarantee sequence, repetition, and concurrency.</a:t>
            </a:r>
          </a:p>
          <a:p xmlns:a="http://schemas.openxmlformats.org/drawingml/2006/main">
            <a:r>
              <a:t>- State carries explicit intermediate artifacts across the team.</a:t>
            </a:r>
          </a:p>
          <a:p xmlns:a="http://schemas.openxmlformats.org/drawingml/2006/main">
            <a:r>
              <a:t>- Boundaries, traces, retries, and stop conditions make the system operable.</a:t>
            </a:r>
          </a:p>
          <a:p xmlns:a="http://schemas.openxmlformats.org/drawingml/2006/main">
            <a:r>
              <a:t>- The build is complete only when the intended path is visible and testable.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Design the smallest team whose topology makes the work easier to understand, test, and trust.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ADK documentation: https://google.github.io/adk-docs/</a:t>
            </a:r>
          </a:p>
          <a:p xmlns:a="http://schemas.openxmlformats.org/drawingml/2006/main">
            <a:r>
              <a:t>- User-supplied PDF: Build Multi-Agent Systems with ADK | Google 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2ca532ce941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a5a290cac74532" /><Relationship Type="http://schemas.openxmlformats.org/officeDocument/2006/relationships/slideLayout" Target="/ppt/slideLayouts/slideLayout1.xml" Id="Ra67b597d14c44e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b597d14c44e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417a41df4425c" /><Relationship Type="http://schemas.openxmlformats.org/officeDocument/2006/relationships/notesSlide" Target="/ppt/notesSlides/notesSlide1.xml" Id="Rc7948d08098a4d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4d59181274cea" /><Relationship Type="http://schemas.openxmlformats.org/officeDocument/2006/relationships/notesSlide" Target="/ppt/notesSlides/notesSlide2.xml" Id="Ra31c82c352d7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ca727265c4aad" /><Relationship Type="http://schemas.openxmlformats.org/officeDocument/2006/relationships/notesSlide" Target="/ppt/notesSlides/notesSlide3.xml" Id="R5ed0b572868e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d296745a34465" /><Relationship Type="http://schemas.openxmlformats.org/officeDocument/2006/relationships/notesSlide" Target="/ppt/notesSlides/notesSlide4.xml" Id="R9d6283a4cb2246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ec9265db64ce4" /><Relationship Type="http://schemas.openxmlformats.org/officeDocument/2006/relationships/notesSlide" Target="/ppt/notesSlides/notesSlide5.xml" Id="Rd21ec1bd0c5a40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500eebc8745fc" /><Relationship Type="http://schemas.openxmlformats.org/officeDocument/2006/relationships/notesSlide" Target="/ppt/notesSlides/notesSlide6.xml" Id="R7c38ac1ecd434f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863a95e934a5f" /><Relationship Type="http://schemas.openxmlformats.org/officeDocument/2006/relationships/image" Target="/ppt/media/image.png" Id="Re3b8a6d4104744ed" /><Relationship Type="http://schemas.openxmlformats.org/officeDocument/2006/relationships/notesSlide" Target="/ppt/notesSlides/notesSlide7.xml" Id="R2124438d74704d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8de7956a841f4" /><Relationship Type="http://schemas.openxmlformats.org/officeDocument/2006/relationships/notesSlide" Target="/ppt/notesSlides/notesSlide8.xml" Id="R7f820bf1044b4b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cd14eb9fd4e0e" /><Relationship Type="http://schemas.openxmlformats.org/officeDocument/2006/relationships/notesSlide" Target="/ppt/notesSlides/notesSlide9.xml" Id="R18f85d64e4f640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e88a668ee4804" /><Relationship Type="http://schemas.openxmlformats.org/officeDocument/2006/relationships/notesSlide" Target="/ppt/notesSlides/notesSlide10.xml" Id="Rbb251e87d59d49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5f5e17ac84f86" /><Relationship Type="http://schemas.openxmlformats.org/officeDocument/2006/relationships/notesSlide" Target="/ppt/notesSlides/notesSlide11.xml" Id="R89427439078b4f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e4149b0e7491b" /><Relationship Type="http://schemas.openxmlformats.org/officeDocument/2006/relationships/image" Target="/ppt/media/image2.png" Id="R3d7e253a8f28436c" /><Relationship Type="http://schemas.openxmlformats.org/officeDocument/2006/relationships/notesSlide" Target="/ppt/notesSlides/notesSlide12.xml" Id="R3b0ca29f66e54e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857ec826b4c92" /><Relationship Type="http://schemas.openxmlformats.org/officeDocument/2006/relationships/notesSlide" Target="/ppt/notesSlides/notesSlide13.xml" Id="Re5a4e009ac3e4e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0c8dfa0484a56" /><Relationship Type="http://schemas.openxmlformats.org/officeDocument/2006/relationships/image" Target="/ppt/media/image3.png" Id="R3a4ad3f436994e38" /><Relationship Type="http://schemas.openxmlformats.org/officeDocument/2006/relationships/notesSlide" Target="/ppt/notesSlides/notesSlide14.xml" Id="Rabc31b4c852c45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c805696aa4204" /><Relationship Type="http://schemas.openxmlformats.org/officeDocument/2006/relationships/notesSlide" Target="/ppt/notesSlides/notesSlide15.xml" Id="Rf891a95a4e8347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8e8633d0f415e" /><Relationship Type="http://schemas.openxmlformats.org/officeDocument/2006/relationships/image" Target="/ppt/media/image4.png" Id="Rc9844335dcb240bd" /><Relationship Type="http://schemas.openxmlformats.org/officeDocument/2006/relationships/notesSlide" Target="/ppt/notesSlides/notesSlide16.xml" Id="R71bf6b3fc77a46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addab732e424a" /><Relationship Type="http://schemas.openxmlformats.org/officeDocument/2006/relationships/image" Target="/ppt/media/image5.png" Id="R1816c2a01aa34324" /><Relationship Type="http://schemas.openxmlformats.org/officeDocument/2006/relationships/notesSlide" Target="/ppt/notesSlides/notesSlide17.xml" Id="R2c212f27353d48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82dacd2254ae3" /><Relationship Type="http://schemas.openxmlformats.org/officeDocument/2006/relationships/notesSlide" Target="/ppt/notesSlides/notesSlide18.xml" Id="R17acbebadaa440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965d96c3a42e1" /><Relationship Type="http://schemas.openxmlformats.org/officeDocument/2006/relationships/notesSlide" Target="/ppt/notesSlides/notesSlide19.xml" Id="R817d202c2ecb46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816b1df564cf2" /><Relationship Type="http://schemas.openxmlformats.org/officeDocument/2006/relationships/notesSlide" Target="/ppt/notesSlides/notesSlide20.xml" Id="Rcf80ff0b287545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10df922e945c7" /><Relationship Type="http://schemas.openxmlformats.org/officeDocument/2006/relationships/notesSlide" Target="/ppt/notesSlides/notesSlide21.xml" Id="Rea114d6a9ada4e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d399844d24314" /><Relationship Type="http://schemas.openxmlformats.org/officeDocument/2006/relationships/notesSlide" Target="/ppt/notesSlides/notesSlide22.xml" Id="Rc4b2babfa70445a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76d8444bc4f76" /><Relationship Type="http://schemas.openxmlformats.org/officeDocument/2006/relationships/notesSlide" Target="/ppt/notesSlides/notesSlide23.xml" Id="Ref394a8e832e47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5851cbd504dbc" /><Relationship Type="http://schemas.openxmlformats.org/officeDocument/2006/relationships/notesSlide" Target="/ppt/notesSlides/notesSlide24.xml" Id="Rec7577cb1d884c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52A9A-D3AB-4787-9C00-D79457D7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33350" cy="5048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03D18-1987-4A3F-84C1-AA3F6B2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00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285F4"/>
                </a:solidFill>
              </a:defRPr>
            </a:pPr>
            <a:r>
              <a:rPr sz="1125" b="1" i="0">
                <a:solidFill>
                  <a:srgbClr val="4285F4"/>
                </a:solidFill>
              </a:rPr>
              <a:t>AGENT ENGINEERING WITH GOOGLE ADK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A11A5-E9B0-4B3B-B2B0-02BF79FF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81125"/>
            <a:ext cx="7429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82033"/>
                </a:solidFill>
              </a:defRPr>
            </a:pPr>
            <a:r>
              <a:rPr sz="4050" b="1" i="0">
                <a:solidFill>
                  <a:srgbClr val="182033"/>
                </a:solidFill>
              </a:rPr>
              <a:t>From one agent</a:t>
            </a:r>
          </a:p>
          <a:p xmlns:a="http://schemas.openxmlformats.org/drawingml/2006/main">
            <a:pPr algn="l">
              <a:defRPr sz="4050" b="1" i="0">
                <a:solidFill>
                  <a:srgbClr val="182033"/>
                </a:solidFill>
              </a:defRPr>
            </a:pPr>
            <a:r>
              <a:rPr sz="4050" b="1" i="0">
                <a:solidFill>
                  <a:srgbClr val="182033"/>
                </a:solidFill>
              </a:rPr>
              <a:t>to an orchestrated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58BDD-FCAC-4E2A-B7AE-0AD05FC9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67085"/>
                </a:solidFill>
              </a:defRPr>
            </a:pPr>
            <a:r>
              <a:rPr sz="1800" b="0" i="0">
                <a:solidFill>
                  <a:srgbClr val="667085"/>
                </a:solidFill>
              </a:rPr>
              <a:t>Single agents, delegated multi-agent systems, sequential pipelines, iterative loops, and parallel branches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813F9-28C1-43AC-A0A8-F257CC3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3142"/>
                </a:solidFill>
              </a:defRPr>
            </a:pPr>
            <a:r>
              <a:rPr sz="1350" b="1" i="0">
                <a:solidFill>
                  <a:srgbClr val="273142"/>
                </a:solidFill>
              </a:rPr>
              <a:t>Class 02B  |  Concept +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5117D-52CE-4CBF-A694-13286D7C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2116E-E708-4DD2-AE23-1F692668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27CEB-89E4-4899-8323-8FF49113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05AF4-5D88-4CC4-98CF-4E23377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2CAF4-0AE4-4633-A7B7-10C3F2A8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621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82033"/>
                </a:solidFill>
              </a:defRPr>
            </a:pPr>
            <a:r>
              <a:rPr sz="2250" b="1" i="0">
                <a:solidFill>
                  <a:srgbClr val="182033"/>
                </a:solidFill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CE39E-3C23-4242-92A5-A8E65A22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193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82033"/>
                </a:solidFill>
              </a:defRPr>
            </a:pPr>
            <a:r>
              <a:rPr sz="2250" b="1" i="0">
                <a:solidFill>
                  <a:srgbClr val="182033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A3E66-7AFA-490E-8952-F7D1045C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76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82033"/>
                </a:solidFill>
              </a:defRPr>
            </a:pPr>
            <a:r>
              <a:rPr sz="2250" b="1" i="0">
                <a:solidFill>
                  <a:srgbClr val="182033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7AD3E-BB23-426A-929A-8AFED08D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193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82033"/>
                </a:solidFill>
              </a:defRPr>
            </a:pPr>
            <a:r>
              <a:rPr sz="2250" b="1" i="0">
                <a:solidFill>
                  <a:srgbClr val="182033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046726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D2F67B-1852-4474-8880-1568F4F5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71CE54-C88F-4B77-9077-A11A0754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The lesson follows the architecture as it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F9531-A58D-4B61-9E82-CA393649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537A5-6003-47EF-BC6A-97A8F85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DE943-30A3-4D2D-9245-001CB0D9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B6291-8A0F-4255-B72A-F783C0D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89D3A-D6DC-4752-BE24-0FB9B64A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2033"/>
                </a:solidFill>
              </a:defRPr>
            </a:pPr>
            <a:r>
              <a:rPr sz="2100" b="1" i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940A1-1649-4632-B919-7A5CC6AC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Single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47A33-CE37-4BAD-AFAF-83D8A9EF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One 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E6FD2-8FC4-4414-BD8F-C5CBD13A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62225"/>
            <a:ext cx="1009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4D93D-340A-4790-B65F-176EB84B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DC61F-C683-46F3-83C5-D0F4439C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33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2033"/>
                </a:solidFill>
              </a:defRPr>
            </a:pPr>
            <a:r>
              <a:rPr sz="2100" b="1" i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5F0F0-5009-4184-80B0-237397E0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71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Multi-agent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A1369-4BFE-49DD-971A-3377037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528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Delegate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E49B1-9CDD-48D8-82A7-C9870EEB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009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F7C85-19E6-4E89-8EDA-04CD0BFC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24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60F4E-595D-443E-AFA9-4BFC3B64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2033"/>
                </a:solidFill>
              </a:defRPr>
            </a:pPr>
            <a:r>
              <a:rPr sz="2100" b="1" i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63FAE-77AF-407A-9C04-84E8E329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71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Sequential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60F1D-F33A-4A83-A522-167C1549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528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E36DE-20FB-4FBD-917F-CF9F013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62225"/>
            <a:ext cx="1009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CA9F7-BBCA-41DD-88C4-8637749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BB2D2-7088-46DA-972F-1500AC8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2033"/>
                </a:solidFill>
              </a:defRPr>
            </a:pPr>
            <a:r>
              <a:rPr sz="2100" b="1" i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4DAC3-05BE-4461-9985-C4EFDE2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71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F805F-80B2-4267-ACA6-94157456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528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Refine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8900D-47A5-41A9-85AD-729C59B0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62225"/>
            <a:ext cx="1009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DAF82-94B5-4279-8E4A-4049342D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241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E0A9D2-FEC5-4F2A-B12C-770BD87B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2033"/>
                </a:solidFill>
              </a:defRPr>
            </a:pPr>
            <a:r>
              <a:rPr sz="2100" b="1" i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4E159-58B9-4073-9C13-BC77AFC5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Parallel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38480-8522-43DD-93F5-FD9A2C05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528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Branch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F7DC4B-0B57-4C21-9EDB-DF0F0805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A4FA3"/>
                </a:solidFill>
              </a:defRPr>
            </a:pPr>
            <a:r>
              <a:rPr sz="1950" b="1" i="0">
                <a:solidFill>
                  <a:srgbClr val="1A4FA3"/>
                </a:solidFill>
              </a:rPr>
              <a:t>Complexity is added only when the control problem demands it.</a:t>
            </a:r>
          </a:p>
        </p:txBody>
      </p:sp>
    </p:spTree>
    <p:extLst>
      <p:ext uri="{BB962C8B-B14F-4D97-AF65-F5344CB8AC3E}">
        <p14:creationId xmlns:p14="http://schemas.microsoft.com/office/powerpoint/2010/main" val="259694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35EF3-5D9C-4DA0-B2BC-9C456483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0CC97C-FB8B-4451-9DB9-7BF1C9A2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An agent is a model operating inside a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152B0-B263-4055-AE0B-9C08051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AE124-B1A2-4EA7-AE4E-A47FA33C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5D7DE-B414-4BAC-ABCE-8118D96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2CFF2-7234-4FCC-8660-CC3AB5AA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BA988-1F15-4891-930F-934D6EA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C3B1A-68BB-4A16-AFDD-A6B02441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667085"/>
                </a:solidFill>
              </a:defRPr>
            </a:pPr>
            <a:r>
              <a:rPr sz="3450" b="1" i="0">
                <a:solidFill>
                  <a:srgbClr val="667085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737D2-322E-45B2-973E-2A5782BE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52600"/>
            <a:ext cx="723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2AAF8-8917-4289-B61F-B32696A9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2033"/>
                </a:solidFill>
              </a:defRPr>
            </a:pPr>
            <a:r>
              <a:rPr sz="2100" b="1" i="0">
                <a:solidFill>
                  <a:srgbClr val="182033"/>
                </a:solidFill>
              </a:rPr>
              <a:t>HARNESS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9EE71-83D9-4387-9301-0C2945F0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D05A6-4B37-4A33-9804-A4251870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53355-C159-4348-AA7D-E3D1A78F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Instructions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2AEC4-ADAB-4879-86AB-9B3B8015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Role, boundaries, success 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42392-05DB-4B34-A91F-64D3450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3162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09D00-4C60-46B1-A614-ED77BD15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CEE17-E411-4974-9444-733594B8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AC18F-3B44-4024-A509-AF89E86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Actions beyond text generation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43489-5141-431A-8A32-013A649C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E7EC3-6928-4644-A238-36B02EC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3BA82-4931-4C33-AF18-AFFD14BA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767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Context +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9C66E-95A4-43ED-B657-9686E2FB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Conversation and remembered 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2C877-0348-49AF-8C26-DC98BD1B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05250"/>
            <a:ext cx="3162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760D8-50AC-4E1E-BC7F-BFD3CCFB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05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DC479-D6B5-443E-B2C9-D5276B56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80B69-FFD2-425A-83A3-26DE454B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Events, retries, callbacks, 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F33DE-4E08-4DAE-A4F6-EA56117A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A4FA3"/>
                </a:solidFill>
              </a:defRPr>
            </a:pPr>
            <a:r>
              <a:rPr sz="1875" b="1" i="0">
                <a:solidFill>
                  <a:srgbClr val="1A4FA3"/>
                </a:solidFill>
              </a:rPr>
              <a:t>The model supplies intelligence; the harness makes behavior usable and governable.</a:t>
            </a:r>
          </a:p>
        </p:txBody>
      </p:sp>
    </p:spTree>
    <p:extLst>
      <p:ext uri="{BB962C8B-B14F-4D97-AF65-F5344CB8AC3E}">
        <p14:creationId xmlns:p14="http://schemas.microsoft.com/office/powerpoint/2010/main" val="17118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93C5D-5821-4F03-843B-FD4FAFA3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739A38-609F-406F-A2F5-4E752F1A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Start with one agent when one owner can finish the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1F855-B67B-48DE-ACE4-6C072439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2632F-50D5-4189-8134-027EB3B5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F548F-A25D-47F4-A2A7-DD066363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4D1C6-A762-4175-8E39-61CD30E6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BC5E5-38A1-454B-80F8-FB3DEBCC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82033"/>
                </a:solidFill>
              </a:defRPr>
            </a:pPr>
            <a:r>
              <a:rPr sz="2250" b="1" i="0">
                <a:solidFill>
                  <a:srgbClr val="182033"/>
                </a:solidFill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A458A-97F1-40AE-8A64-9CBF54F9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6192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0C53-C37A-42F2-8414-90BD3ED2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66875"/>
            <a:ext cx="2857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EC473-0C48-4848-AA1B-379A4A6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2033"/>
                </a:solidFill>
              </a:defRPr>
            </a:pPr>
            <a:r>
              <a:rPr sz="2100" b="1" i="0">
                <a:solidFill>
                  <a:srgbClr val="182033"/>
                </a:solidFill>
              </a:rPr>
              <a:t>SINGLE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5303B-356B-440B-8789-EE8FE460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171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Understand</a:t>
            </a:r>
          </a:p>
          <a:p xmlns:a="http://schemas.openxmlformats.org/drawingml/2006/main">
            <a:pPr algn="ctr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Choose tools</a:t>
            </a:r>
          </a:p>
          <a:p xmlns:a="http://schemas.openxmlformats.org/drawingml/2006/main">
            <a:pPr algn="ctr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Respond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62941-3F7A-46B1-851A-0B6439DF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6192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130D6-FF6E-4F2C-9F08-AE20501C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00250"/>
            <a:ext cx="1333500" cy="1619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97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DBB51-F12A-4508-8289-94422D2D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90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033"/>
                </a:solidFill>
              </a:defRPr>
            </a:pPr>
            <a:r>
              <a:rPr sz="1500" b="1" i="0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DDAD8-DA3C-410B-9F4A-764CF74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FBA00-78C8-4BB7-951A-6B7B7395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725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One coherent objective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90803-1B17-4455-827E-4F804844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A9389-7FC4-41E5-8660-6303DC74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A small tool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BD82C-26F1-4FB9-9920-36A08C46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C55D4-AC3F-4ED6-BA75-858ACAC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4355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Low coordination overhead</a:t>
            </a:r>
          </a:p>
        </p:txBody>
      </p:sp>
    </p:spTree>
    <p:extLst>
      <p:ext uri="{BB962C8B-B14F-4D97-AF65-F5344CB8AC3E}">
        <p14:creationId xmlns:p14="http://schemas.microsoft.com/office/powerpoint/2010/main" val="1640336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51D5A-78F4-4F06-B45B-C1D4743B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C77746-F2DB-4164-8E27-AEA8F100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One agent becomes fragile when every responsibility competes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1531E-3E79-424F-A3A1-136C833E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64C30-4902-4B78-A9AB-803DFE12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2003F-9565-4119-A6E6-89EC9B81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11075-C922-48A1-8ABA-CA44B33E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98A75"/>
                </a:solidFill>
              </a:defRPr>
            </a:pPr>
            <a:r>
              <a:rPr sz="2100" b="1" i="0">
                <a:solidFill>
                  <a:srgbClr val="E98A75"/>
                </a:solidFill>
              </a:rPr>
              <a:t>Symptoms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58577-6CD9-4C15-95F3-AF8F89C8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F7047-E3B1-485F-8237-0E8E17F0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Instructions become long and contradictory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9A0F3-C625-460E-AEA1-AFCAD0F5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599BD-2707-48F1-B4F2-6DC684C5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Tool choice becomes ambiguous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59EE4-8E83-4619-A83F-36DB7457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B444C-7E73-4FC5-A67F-61A860C7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Failures are hard to isolate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8F035-260D-436F-9B10-D9A30BD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B0722-D527-4959-A4C0-CFDF1F0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Changes in one behavior disturb another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C4BEF-22C4-4310-9A35-B4E1962C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4285F4"/>
                </a:solidFill>
              </a:defRPr>
            </a:pPr>
            <a:r>
              <a:rPr sz="2100" b="1" i="0">
                <a:solidFill>
                  <a:srgbClr val="4285F4"/>
                </a:solidFill>
              </a:rPr>
              <a:t>The engineering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A5B07-9A18-45BA-9AD7-2BB33132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8E51F-6E39-4E28-BB2B-08CB8CF2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Split work by capability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708D4-2714-462F-A141-A8A18473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4EAA4-BBDC-4AB2-A8B9-7D8D7CF7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Give each role a crisp description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8B284-EAC9-4232-BD2C-D72A7817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4FFEC-5F8E-4818-A8E7-03142AD9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Control handoffs explicitly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A3674-DE8A-43B3-823B-179878B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C0069-574B-44EB-8F1A-27F2B00D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73142"/>
                </a:solidFill>
              </a:defRPr>
            </a:pPr>
            <a:r>
              <a:rPr sz="1650" b="0" i="0">
                <a:solidFill>
                  <a:srgbClr val="273142"/>
                </a:solidFill>
              </a:rPr>
              <a:t>Share only the state each step needs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77666-1812-4E47-BAB7-DECC671C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586D1-8CDE-4C69-9756-BFC19B40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Multi-agent design trades local simplicity for system-level clarity.</a:t>
            </a:r>
          </a:p>
        </p:txBody>
      </p:sp>
    </p:spTree>
    <p:extLst>
      <p:ext uri="{BB962C8B-B14F-4D97-AF65-F5344CB8AC3E}">
        <p14:creationId xmlns:p14="http://schemas.microsoft.com/office/powerpoint/2010/main" val="1852488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C22ED-4D61-411D-8240-AA50B589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FD225C-99B3-445F-BE00-61D8A278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A multi-agent system is a team with a coordination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B3F06-F39A-47CC-9D65-8C536A10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5958E-065C-4419-8C0C-C8F3DF84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E4E34-814B-4CFA-8A5A-9561839D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056AA-3567-417A-B33A-CCB3657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0482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D7044-148A-400A-AA88-4E8412E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19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033"/>
                </a:solidFill>
              </a:defRPr>
            </a:pPr>
            <a:r>
              <a:rPr sz="1350" b="1" i="0">
                <a:solidFill>
                  <a:srgbClr val="182033"/>
                </a:solidFill>
              </a:rPr>
              <a:t>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A37CA-FA65-44D5-95C6-50B3C019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Specialists own narrow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46BB0-DCAE-4078-B26A-EB830E1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0482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2AE74-B8AE-463C-8A71-71CF55C1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19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033"/>
                </a:solidFill>
              </a:defRPr>
            </a:pPr>
            <a:r>
              <a:rPr sz="1350" b="1" i="0">
                <a:solidFill>
                  <a:srgbClr val="182033"/>
                </a:solidFill>
              </a:rPr>
              <a:t>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FC6A9-96F7-42F2-8C87-1610074D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A parent delegates to the right specialist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A0789-CBE2-4F8C-8676-0A0E2D8F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50482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CB885-F2FE-40EB-9C34-DE65C0B2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71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033"/>
                </a:solidFill>
              </a:defRPr>
            </a:pPr>
            <a:r>
              <a:rPr sz="1350" b="1" i="0">
                <a:solidFill>
                  <a:srgbClr val="182033"/>
                </a:solidFill>
              </a:rPr>
              <a:t>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129E6-3D36-43F4-984D-8C401F1B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Shared facts connect turns and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F70E4-958C-49B5-9F58-230DFB26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50482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BF653-BEB3-4EF4-B0AC-B7DE695A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71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033"/>
                </a:solidFill>
              </a:defRPr>
            </a:pPr>
            <a:r>
              <a:rPr sz="1350" b="1" i="0">
                <a:solidFill>
                  <a:srgbClr val="182033"/>
                </a:solidFill>
              </a:rPr>
              <a:t>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8C34B-2DEB-4BB3-9306-AD54FDB7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291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Workflow agents constrain execution</a:t>
            </a:r>
          </a:p>
        </p:txBody>
      </p:sp>
    </p:spTree>
    <p:extLst>
      <p:ext uri="{BB962C8B-B14F-4D97-AF65-F5344CB8AC3E}">
        <p14:creationId xmlns:p14="http://schemas.microsoft.com/office/powerpoint/2010/main" val="1208285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E040F-5996-4408-B2FB-51671F91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82C40A-D65C-43F0-8231-40CE7EFE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The hierarchy limits possible handoffs and makes routing legible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E4F84-CDB5-4251-AAD6-C731D2BA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4AF52-CC5C-4076-9EF0-6783B73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9249A-C357-4505-A3C8-0695E0DF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8a6d4104744ed"/>
          <a:stretch xmlns:a="http://schemas.openxmlformats.org/drawingml/2006/main"/>
        </p:blipFill>
        <p:spPr>
          <a:xfrm xmlns:a="http://schemas.openxmlformats.org/drawingml/2006/main">
            <a:off x="741371" y="1476375"/>
            <a:ext cx="10709258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02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7758C-C6FE-4F10-90A4-CEBF9754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BD1823-0F0E-455B-A079-CAD263FC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Delegation chooses the route; workflows enforce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AA1CE-0AAC-40FF-B24E-33115A64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286E-6E8C-45DE-8E15-FDCCDD4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E508D-D263-448A-9306-2B65ADC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0D904-5084-459F-BAB5-C8E9A299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98A75"/>
                </a:solidFill>
              </a:defRPr>
            </a:pPr>
            <a:r>
              <a:rPr sz="2100" b="1" i="0">
                <a:solidFill>
                  <a:srgbClr val="E98A75"/>
                </a:solidFill>
              </a:rPr>
              <a:t>LLM-directed delegation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EAAD7-23A6-4008-A011-749D4493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95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4285F4"/>
                </a:solidFill>
              </a:defRPr>
            </a:pPr>
            <a:r>
              <a:rPr sz="2100" b="1" i="0">
                <a:solidFill>
                  <a:srgbClr val="4285F4"/>
                </a:solidFill>
              </a:rPr>
              <a:t>Deterministic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3E4EB-84C3-4D13-B78D-89B8EC77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476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975A7-DA11-479B-89C1-E33348CB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476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7379D-6708-4250-8DC8-B32183E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986F4-7140-4E90-9209-0E9EA2E6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64795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3142"/>
                </a:solidFill>
              </a:defRPr>
            </a:pPr>
            <a:r>
              <a:rPr sz="1500" b="0" i="0">
                <a:solidFill>
                  <a:srgbClr val="273142"/>
                </a:solidFill>
              </a:rPr>
              <a:t>Parent reads descriptions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C6726-E9E1-48EB-9700-60854441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9EC18-118A-46FB-B01D-E1044C0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14325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3142"/>
                </a:solidFill>
              </a:defRPr>
            </a:pPr>
            <a:r>
              <a:rPr sz="1500" b="0" i="0">
                <a:solidFill>
                  <a:srgbClr val="273142"/>
                </a:solidFill>
              </a:rPr>
              <a:t>Model selects a handoff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25CB8-44BF-4DB5-8C00-4941C00C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04611-A548-40B3-9049-FFFBA8B0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3855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3142"/>
                </a:solidFill>
              </a:defRPr>
            </a:pPr>
            <a:r>
              <a:rPr sz="1500" b="0" i="0">
                <a:solidFill>
                  <a:srgbClr val="273142"/>
                </a:solidFill>
              </a:rPr>
              <a:t>User may remain in the conversation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46BC8-C3FD-413F-BE72-AC571A2A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74E8E-8B42-4FC7-8F0F-314AC985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13385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3142"/>
                </a:solidFill>
              </a:defRPr>
            </a:pPr>
            <a:r>
              <a:rPr sz="1500" b="0" i="0">
                <a:solidFill>
                  <a:srgbClr val="273142"/>
                </a:solidFill>
              </a:rPr>
              <a:t>Best for adaptive specialist routing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F4938-61CC-482E-9AF3-F9A6BED3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56D69-47A3-4571-A6AA-A36EDF3B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4795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3142"/>
                </a:solidFill>
              </a:defRPr>
            </a:pPr>
            <a:r>
              <a:rPr sz="1500" b="0" i="0">
                <a:solidFill>
                  <a:srgbClr val="273142"/>
                </a:solidFill>
              </a:rPr>
              <a:t>Orchestrator owns control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1945C-7E49-4B3F-BEA5-A902D591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12C56-B8E7-4822-BA0C-9273502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4325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3142"/>
                </a:solidFill>
              </a:defRPr>
            </a:pPr>
            <a:r>
              <a:rPr sz="1500" b="0" i="0">
                <a:solidFill>
                  <a:srgbClr val="273142"/>
                </a:solidFill>
              </a:rPr>
              <a:t>Order is defined in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C1763-6D3B-46C7-995F-9D3FF1C4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4FF2B-D5BC-4DA7-99D3-C38612D0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3855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3142"/>
                </a:solidFill>
              </a:defRPr>
            </a:pPr>
            <a:r>
              <a:rPr sz="1500" b="0" i="0">
                <a:solidFill>
                  <a:srgbClr val="273142"/>
                </a:solidFill>
              </a:rPr>
              <a:t>No user turn between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4F724-1EAF-4E93-89C6-59A378A5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B01B9-4C35-408C-8DE2-BEECCA95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33850"/>
            <a:ext cx="3533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3142"/>
                </a:solidFill>
              </a:defRPr>
            </a:pPr>
            <a:r>
              <a:rPr sz="1500" b="0" i="0">
                <a:solidFill>
                  <a:srgbClr val="273142"/>
                </a:solidFill>
              </a:rPr>
              <a:t>Best for repeatable processes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87101-0B0A-49CA-B24B-511E0B98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2033"/>
                </a:solidFill>
              </a:defRPr>
            </a:pPr>
            <a:r>
              <a:rPr sz="1950" b="1" i="0">
                <a:solidFill>
                  <a:srgbClr val="182033"/>
                </a:solidFill>
              </a:rPr>
              <a:t>Both can exist in the same system.</a:t>
            </a:r>
          </a:p>
        </p:txBody>
      </p:sp>
    </p:spTree>
    <p:extLst>
      <p:ext uri="{BB962C8B-B14F-4D97-AF65-F5344CB8AC3E}">
        <p14:creationId xmlns:p14="http://schemas.microsoft.com/office/powerpoint/2010/main" val="1798922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C5C01-9F8B-4C3D-8FE2-C440E5DE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2245C-8C1E-4166-BF44-6E82E2C6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Session state is the shared workbench between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3F5CF-D1B9-4E31-984E-884C1E83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D520D-2446-46BB-BC08-FF958DD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24E5E-B992-47E7-B911-495A9675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95A7F-7774-4B5F-8BE1-17569EC1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619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840E5-FC6C-48BE-8517-5451CFE3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2033"/>
                </a:solidFill>
              </a:defRPr>
            </a:pPr>
            <a:r>
              <a:rPr sz="2100" b="1" i="0">
                <a:solidFill>
                  <a:srgbClr val="182033"/>
                </a:solidFill>
              </a:rPr>
              <a:t>SESSION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D67DE-359E-4CE9-ABF4-87C8A8EE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667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294C7-9E95-49EA-BE7D-1543B27D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1EC9C-B5A0-4FB0-BDF0-EDB4FE07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2247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state["PROMPT"]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state["research"]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state["PLOT_OUTLINE"]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state["CRITICAL_FEEDBACK"]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D21D7-B56C-4D9D-8F80-B5F7FDFB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4E6B4-58CB-45BB-897D-BF454920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2033"/>
                </a:solidFill>
              </a:defRPr>
            </a:pPr>
            <a:r>
              <a:rPr sz="1950" b="1" i="0">
                <a:solidFill>
                  <a:srgbClr val="182033"/>
                </a:solidFill>
              </a:rPr>
              <a:t>Agent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D6136-AD6C-40E3-85E9-B9A7AF76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781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795E1-61FE-4DB1-8129-CF3BACA6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DEF3"/>
          </a:solidFill>
          <a:ln xmlns:a="http://schemas.openxmlformats.org/drawingml/2006/main" w="9525">
            <a:solidFill>
              <a:srgbClr val="B8A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2F507-DBF0-4782-A820-3E2DD2C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Next agent reads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F30C5-DC83-4191-8423-C67E831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781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679CC-8AED-4046-B504-E8086096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A4FA3"/>
                </a:solidFill>
              </a:defRPr>
            </a:pPr>
            <a:r>
              <a:rPr sz="1500" b="1" i="0">
                <a:solidFill>
                  <a:srgbClr val="1A4FA3"/>
                </a:solidFill>
              </a:rPr>
              <a:t>Tools update state  |  { key? } injects state into instructions  |  output_key stores a full response</a:t>
            </a:r>
          </a:p>
        </p:txBody>
      </p:sp>
    </p:spTree>
    <p:extLst>
      <p:ext uri="{BB962C8B-B14F-4D97-AF65-F5344CB8AC3E}">
        <p14:creationId xmlns:p14="http://schemas.microsoft.com/office/powerpoint/2010/main" val="2131971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3A774-4946-4647-8484-ED8C4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D53CB2-BBFB-42F3-A648-10518DA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Three workflow shapes solve three different control problems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F750D-AF31-4617-9E7A-172BDBAC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739DF-461F-4A0B-8DA8-C44075D0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FDAC8-3B70-4D6B-9EBE-7DF981F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A9011-EFC3-4789-A84B-042CF8E7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401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3781C-7A13-4038-A866-ACB808F3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736EE-6A43-4D04-91E6-153F6036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812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SequentialAgent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42D65-065D-4381-94AD-9FD4D0F7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Run every sub-agent in a fixed order when later work depends on earlier output.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1C960-7A91-4D66-B73A-B3AA9476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0401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E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953CC-0754-4CED-97D1-8B953116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33AA5-225C-49F6-B8EA-226CE158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LoopAgent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80DF-D637-4859-A54F-79CE4055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Repeat a defined sequence until a bounded limit or an explicit exit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077C4-1EB4-4025-8631-34CBB9C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0401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D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2909E-E30E-4E45-A67E-5B619C7F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05791-15E6-404B-91F0-7D9309FB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ParallelAgent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3F0C5-31C9-4F9A-94B3-3D97CE63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Run independent branches concurrently, then gather their outputs downstream.</a:t>
            </a:r>
          </a:p>
        </p:txBody>
      </p:sp>
    </p:spTree>
    <p:extLst>
      <p:ext uri="{BB962C8B-B14F-4D97-AF65-F5344CB8AC3E}">
        <p14:creationId xmlns:p14="http://schemas.microsoft.com/office/powerpoint/2010/main" val="614646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3A88D-5763-45AF-9456-23B99F7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FF71D3-8C92-4199-96A4-2AB90267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SequentialAgent guarantees the order of dependent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A7BB5-2646-4F92-85C0-7A7117D0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F0025-4CEC-45EA-B76D-61E8F906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3014A-4FE0-4F47-BFB1-D98720FF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0AB66-BCB1-4306-AC98-B23EB568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44B99-7815-44DE-9291-6BA88BE5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62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91869-7B0E-46FF-8473-AC80389C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5241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2C6A8-EF6B-48A8-A505-3B501BC9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2033"/>
                </a:solidFill>
              </a:defRPr>
            </a:pPr>
            <a:r>
              <a:rPr sz="1950" b="1" i="0">
                <a:solidFill>
                  <a:srgbClr val="182033"/>
                </a:solidFill>
              </a:rPr>
              <a:t>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8C4CF-0DB3-453B-A1D5-FB366369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48050"/>
            <a:ext cx="10001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02CB3-80B8-4AB6-BC03-414D3FE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4C0E4-51BB-4073-A330-54910297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3D6D7-CDA1-454C-9509-A2D877DE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25241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07332-1901-4B63-A5E1-95CE7B86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2033"/>
                </a:solidFill>
              </a:defRPr>
            </a:pPr>
            <a:r>
              <a:rPr sz="1950" b="1" i="0">
                <a:solidFill>
                  <a:srgbClr val="182033"/>
                </a:solidFill>
              </a:rPr>
              <a:t>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E0957-6E47-4BA6-BC1D-B74FE9B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10001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C5FEA-FDFF-4EE5-A28C-01C40A7F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EFE8C-BEF4-45B1-B4CC-55A5A1B4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62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82033"/>
                </a:solidFill>
              </a:defRPr>
            </a:pPr>
            <a:r>
              <a:rPr sz="1875" b="1" i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926D0-C7AC-4A80-920A-5545B04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5241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95A4D-E908-42F5-BB87-19BEFB4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2033"/>
                </a:solidFill>
              </a:defRPr>
            </a:pPr>
            <a:r>
              <a:rPr sz="1950" b="1" i="0">
                <a:solidFill>
                  <a:srgbClr val="182033"/>
                </a:solidFill>
              </a:rPr>
              <a:t>Write 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8B0C1-1660-4D60-8240-92861CF2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A4FA3"/>
                </a:solidFill>
              </a:defRPr>
            </a:pPr>
            <a:r>
              <a:rPr sz="1800" b="1" i="0">
                <a:solidFill>
                  <a:srgbClr val="1A4FA3"/>
                </a:solidFill>
              </a:rPr>
              <a:t>Shared invocation context lets later steps read state produced earlier in the same run.</a:t>
            </a:r>
          </a:p>
        </p:txBody>
      </p:sp>
    </p:spTree>
    <p:extLst>
      <p:ext uri="{BB962C8B-B14F-4D97-AF65-F5344CB8AC3E}">
        <p14:creationId xmlns:p14="http://schemas.microsoft.com/office/powerpoint/2010/main" val="17244319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A1D63-6244-4E36-B10C-B937E4A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C5B16E-7DD9-4FC2-A84E-AA1238CD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The first movie-pitch workflow is a straight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2A1BE-ED8A-441B-B466-80F11860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F4A27-AA47-4E75-9AD7-403D0EE2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A936-414E-404E-AE23-A549067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e253a8f28436c"/>
          <a:stretch xmlns:a="http://schemas.openxmlformats.org/drawingml/2006/main"/>
        </p:blipFill>
        <p:spPr>
          <a:xfrm xmlns:a="http://schemas.openxmlformats.org/drawingml/2006/main">
            <a:off x="799690" y="1428750"/>
            <a:ext cx="10592619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882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217CF-2C60-4C7A-90E8-18A45D8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B13DFD-FCDC-4759-B341-0B248BAC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LoopAgent adds bounded refinement and an explicit quality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50A3F-588C-4EF8-B341-26A06933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91F2D-6F93-4DA4-9DFE-81BFF64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0A5B8-93CF-42CF-9CD9-1937C1F0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2B3AC-217B-45F5-B5C5-AE9F451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8191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BE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493C9-AC01-4D2B-9518-0F28B531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860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7199E-2723-4971-8D4D-45B108E1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86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376E2-10B6-412D-B1E7-67928FE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Researcher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5DCEC-49D7-4412-9AD1-19533E64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Add stronger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8361E-9A6E-4C91-AA1E-CC0CE531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B5DF9-9340-411C-9C07-35E33BA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B0BC8-52CE-49B1-BDC0-332D9DBC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74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Screenwriter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7276D-ACBE-4EE0-8590-DC42B37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194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Improve the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99E2F-9CEC-4BF5-9E98-A1EBF7E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0FB28-D51F-4E91-A871-7E17522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BEA81-45C7-45C2-8910-6235D36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862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Critic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84FFF-EDEA-4112-95E7-D2F937F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481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Exit or add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61835-64A3-44C9-A1B9-BD0F1A91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6667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39A93-1AE6-43D5-A86E-E4B66C4D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428750" cy="3619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79E66-0599-40FF-937B-6E7153CB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A4FA3"/>
                </a:solidFill>
              </a:defRPr>
            </a:pPr>
            <a:r>
              <a:rPr sz="1875" b="1" i="0">
                <a:solidFill>
                  <a:srgbClr val="1A4FA3"/>
                </a:solidFill>
              </a:rPr>
              <a:t>Stop on quality OR max_iterations</a:t>
            </a:r>
          </a:p>
        </p:txBody>
      </p:sp>
    </p:spTree>
    <p:extLst>
      <p:ext uri="{BB962C8B-B14F-4D97-AF65-F5344CB8AC3E}">
        <p14:creationId xmlns:p14="http://schemas.microsoft.com/office/powerpoint/2010/main" val="406059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A0105-92E5-4A8F-81D8-3E27DEE8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ED06F9-E55E-4FD0-9CFF-83C76C8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The writers' room turns one pass into a quality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C6AAC-FFD1-4DA0-AB78-6B6D49BB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0ACE7-4297-4E63-BEDA-5BFA844A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C9E9D-AC6F-4D9A-8430-2EB3913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ad3f436994e38"/>
          <a:stretch xmlns:a="http://schemas.openxmlformats.org/drawingml/2006/main"/>
        </p:blipFill>
        <p:spPr>
          <a:xfrm xmlns:a="http://schemas.openxmlformats.org/drawingml/2006/main">
            <a:off x="694813" y="1381125"/>
            <a:ext cx="1080237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97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1628F-2183-4C0D-999C-1A64E6C5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82F02E-EBF3-4D8C-9AC6-965A6812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ParallelAgent is for independent branches, not dependent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692F4-5E0A-4E9A-81C1-8A028EFC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2AC87-D7FE-4CF4-AD3E-543439A0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B35E1-0B25-47D9-BF31-CA6432EE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5ABF4-DC94-458F-AA89-4CE41AEC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B2BD7-DE7C-4BD5-88A2-172CEF08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PLOT OUTLINE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49B4E-3099-40F1-B931-B72F04A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43200"/>
            <a:ext cx="12858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0F84A-199E-459F-AC96-5F857F91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81375"/>
            <a:ext cx="12858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9674C-92CE-4417-9B9A-0428756D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3238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D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28021-F147-4AA2-B0E4-9B1D8CF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790C2-24C0-4E73-89F1-17214D31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Box office branch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3029C-4C6B-42DE-9C32-3C5B9382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Independent market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9A30A-F927-42B3-B604-9AB8D525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67125"/>
            <a:ext cx="3238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D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A6121-339C-4FAB-8082-3F8838FF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671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D9A34-BDC1-4020-A5BB-639A834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385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Casting branch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23859-0903-46DA-A645-91EE16A6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0052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Independent casting ideas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70E60-E266-4B2F-9D75-7170F7AE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1DB73-7774-4092-AE41-2BD1046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4A2CA-6D00-4427-BBA8-C78A62B4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71750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FDE8B-DD9F-4F24-843A-DDBC8472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622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2033"/>
                </a:solidFill>
              </a:defRPr>
            </a:pPr>
            <a:r>
              <a:rPr sz="1575" b="1" i="0">
                <a:solidFill>
                  <a:srgbClr val="182033"/>
                </a:solidFill>
              </a:rPr>
              <a:t>GATHER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CEAE4-5755-4A00-8E48-00F200BF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A4FA3"/>
                </a:solidFill>
              </a:defRPr>
            </a:pPr>
            <a:r>
              <a:rPr sz="1725" b="1" i="0">
                <a:solidFill>
                  <a:srgbClr val="1A4FA3"/>
                </a:solidFill>
              </a:rPr>
              <a:t>Parallel results may complete in any order; write them to separate state keys.</a:t>
            </a:r>
          </a:p>
        </p:txBody>
      </p:sp>
    </p:spTree>
    <p:extLst>
      <p:ext uri="{BB962C8B-B14F-4D97-AF65-F5344CB8AC3E}">
        <p14:creationId xmlns:p14="http://schemas.microsoft.com/office/powerpoint/2010/main" val="18222083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8F78C-1E03-43BD-B348-331BFFD1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6C84C8-ADF3-4FC6-A7F4-D59F17DD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The preproduction team fans out, then the file writer gathers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4D685-84CD-4457-9892-8A8B895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84A37-9C55-41DB-9CAE-4F06BE5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B59C0-483F-4F8B-B3DC-C2289C8A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44335dcb240bd"/>
          <a:stretch xmlns:a="http://schemas.openxmlformats.org/drawingml/2006/main"/>
        </p:blipFill>
        <p:spPr>
          <a:xfrm xmlns:a="http://schemas.openxmlformats.org/drawingml/2006/main">
            <a:off x="642374" y="1381125"/>
            <a:ext cx="10907252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766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E75E8-ACDF-4581-89B6-750C3FF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61EF46-31DA-4F12-BBF5-4C134A4F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A real system composes patterns instead of choosing only 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8CE5E-B90E-4391-B37E-7AAF3DE5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3B51C-E95B-43FB-B266-5C0C0DE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05B02-A901-4A71-B39E-0F8F528A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6c2a01aa34324"/>
          <a:stretch xmlns:a="http://schemas.openxmlformats.org/drawingml/2006/main"/>
        </p:blipFill>
        <p:spPr>
          <a:xfrm xmlns:a="http://schemas.openxmlformats.org/drawingml/2006/main">
            <a:off x="852129" y="1381125"/>
            <a:ext cx="10487742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45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D935A-FE84-41FC-9CD6-01B80C7D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239C5B-2A93-424F-8BF6-3DF4EABD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The orchestration code is mostly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95C14-08C5-4F04-B1D4-79CADB4E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CB1AB-3E3B-4FC9-9283-93FA6EA1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A00C3-4BF4-423D-980A-F97C7BD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5388C-EE8A-4011-A1FC-241BD286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0958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3EDB3-7D97-41D3-8732-BEEE6AC9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0FA9C-EE3D-4958-97AD-96BA69A0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46767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root_agent = Agent(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  name="steering",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  sub_agents=[brainstormer, planner]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FFE9F-8DE4-48B4-A3DE-5637CBB1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50958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B12EF-995D-4D3F-88F8-88F9DD9E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09BA5-400F-406C-9B1B-CB5F40E2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38325"/>
            <a:ext cx="46767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film_team = SequentialAgent(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  sub_agents=[writers_room,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              preproduction_team, file_writer]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95562-7EAE-49A9-B7D4-6411A90A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0958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28A4D-D328-4DEE-8BED-3D1DFBD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3C3E9-E342-44BE-9530-6D283878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46767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writers_room = LoopAgent(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  sub_agents=[researcher, screenwriter, critic],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  max_iterations=5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56299-528E-420A-AF9C-329ADFF2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0958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14068-7442-4D24-A3A6-8D8B2C00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A7497-93CB-4B51-919E-E302033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29075"/>
            <a:ext cx="46767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preproduction_team = ParallelAgent(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  sub_agents=[box_office_researcher,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              casting_agent]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01687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3C7A27-943A-4085-AE26-593E8A97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2789CD-7C6C-4475-9B3B-4D835CD9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Build the solution in seven testable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0A391-692A-4E52-8583-E1DBCE06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EB509-3254-4011-9227-A446AE2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C7B60-CF89-4524-B90F-4E4BC18A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2FADC-217E-4CB8-867F-26B4C403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AC3F5-13D0-478A-9356-5D623A12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859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033"/>
                </a:solidFill>
              </a:defRPr>
            </a:pPr>
            <a:r>
              <a:rPr sz="1275" b="1" i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D5066-6A85-42D8-96CD-AB0DB904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38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Expand + install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62BDA-A72E-4592-BC2E-46BA3739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Unzip, virtual environment, 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D641F-6A62-4E36-894A-D1194B6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3B912-F05A-4146-8E65-0538FF7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145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033"/>
                </a:solidFill>
              </a:defRPr>
            </a:pPr>
            <a:r>
              <a:rPr sz="1275" b="1" i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89E1B-B08F-4B89-A4A1-23820E0A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669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Choose 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663ED-BFA3-4C4D-A391-6C74DA42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955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Vertex AI or API key - never both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A907B-0EC5-46AB-B830-1A968AD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F9478-578B-40A9-ABFC-62F7001B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033"/>
                </a:solidFill>
              </a:defRPr>
            </a:pPr>
            <a:r>
              <a:rPr sz="1275" b="1" i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78133-A113-420B-9737-27C8D86C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Run single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A4C95-71E2-4655-97DC-80F45E1E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241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Prove the root agent starts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56090-0E37-4747-972E-13B87FD4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5EC7E-A880-49B4-9D39-CA6FCA6D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033"/>
                </a:solidFill>
              </a:defRPr>
            </a:pPr>
            <a:r>
              <a:rPr sz="1275" b="1" i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802C8-1038-41A4-9FB2-0C6C57D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Add delegation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126F7-8BAC-448C-B3BE-2A919F32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Parent plus two specialist sub-agents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E7829-66EB-4A28-81C8-BC4E9C27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F8918-29BF-4406-B8D0-4CEF2BB6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05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033"/>
                </a:solidFill>
              </a:defRPr>
            </a:pPr>
            <a:r>
              <a:rPr sz="1275" b="1" i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04E50-69EA-4CBE-B8B0-76A2008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Add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E18D8-A9C0-4A96-8275-2557911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814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Inspect ToolContext and state delta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76C77-A45D-4687-9B9B-CADB9DBA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552B9-EC31-4BE3-B823-FB0C04F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291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033"/>
                </a:solidFill>
              </a:defRPr>
            </a:pPr>
            <a:r>
              <a:rPr sz="1275" b="1" i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6F335-7196-4028-89B7-72C13679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Add loop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61855-F825-4BD3-8942-9B4479A7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0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Critic plus exit_loop and hard cap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5D11B-22EF-4130-8B8E-31AA9C0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7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26A0E1-8CEC-4361-95BA-1E79D962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57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033"/>
                </a:solidFill>
              </a:defRPr>
            </a:pPr>
            <a:r>
              <a:rPr sz="1275" b="1" i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4E242-90FD-41E2-A140-91888B8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Add branches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9B381C-EA6D-489C-998D-F7FD96FD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387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Parallel reports plus downstream gather</a:t>
            </a:r>
          </a:p>
        </p:txBody>
      </p:sp>
    </p:spTree>
    <p:extLst>
      <p:ext uri="{BB962C8B-B14F-4D97-AF65-F5344CB8AC3E}">
        <p14:creationId xmlns:p14="http://schemas.microsoft.com/office/powerpoint/2010/main" val="6693323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47CA1-5A72-4068-86B8-827EEFE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3944F3-F771-40EE-9A8C-FF6C04C8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Run, inspect, and prove each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D0D4-70F3-4624-BCB8-CFB8F6F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488EC-94EA-44D3-9F2B-25F36C6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3467B-A816-43CE-87A3-42C6DCFC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FAFAC-7968-47D2-8584-2A1A244F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22AF0-86E4-4333-B8A1-A0E45183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14B9A-6FB1-479E-A415-7DA33A62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45339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cd adk_multiagent_systems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adk run parent_and_subagents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01449-28FE-4C06-B2EF-558C5A95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32637-3882-4192-A330-3845941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6E423-7D13-4CCE-BCB5-790265D7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38325"/>
            <a:ext cx="45339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cd adk_multiagent_systems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adk web --port 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D0BE9-8FF4-4AAA-813D-0ABD44F5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065D4-43B8-4A44-9F2B-0397F7C8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633D4-643C-4A76-B288-FC3F99A0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433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C4A66-2225-4049-B64D-07ADBFE1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0527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Fast conversation and transfer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52F84-263A-441A-89A9-206BD58B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718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BBDA2-642A-4248-AF96-3DE89873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71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E79F0-CDDC-4139-AD50-C45B365A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433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Events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F540F-F255-45B9-A42B-0AAE4EE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0527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Agent names, tool calls, state deltas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5A337-CC39-4541-A271-6F9C31EE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D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B1AF5-C04E-4C9F-A8A9-DFDF7F58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1BF1B-01D3-4461-818A-A655AB1B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433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26A91-86D2-4690-88DF-C2824F6F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0527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Inspect movie_pitches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181BD-A6BE-4C3B-8487-FE428766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A4FA3"/>
                </a:solidFill>
              </a:defRPr>
            </a:pPr>
            <a:r>
              <a:rPr sz="1800" b="1" i="0">
                <a:solidFill>
                  <a:srgbClr val="1A4FA3"/>
                </a:solidFill>
              </a:rPr>
              <a:t>A response is not proof of the intended route - inspect the trace.</a:t>
            </a:r>
          </a:p>
        </p:txBody>
      </p:sp>
    </p:spTree>
    <p:extLst>
      <p:ext uri="{BB962C8B-B14F-4D97-AF65-F5344CB8AC3E}">
        <p14:creationId xmlns:p14="http://schemas.microsoft.com/office/powerpoint/2010/main" val="19635771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A89D5-A404-4B4B-ACC4-F7D54908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B070A6-070B-40F6-B270-8A23CB30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Choose exactly one authentication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259BE-5A52-4ECB-A0E3-0A657108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9EE0F-AAB0-483D-8D54-E54233FE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EB2BB-57F0-4D58-9609-3740137F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E254B-3FD0-4BB0-A64F-22FFF1D3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4285F4"/>
                </a:solidFill>
              </a:defRPr>
            </a:pPr>
            <a:r>
              <a:rPr sz="2250" b="1" i="0">
                <a:solidFill>
                  <a:srgbClr val="4285F4"/>
                </a:solidFill>
              </a:rPr>
              <a:t>Vertex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FBBFC-9319-439D-B64C-AF8D3D2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B69C1-6CF5-4F45-A459-C848AD14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F28BE-8982-4A26-B87A-0A3084A8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629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GOOGLE_GENAI_USE_VERTEXAI=TRUE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GOOGLE_CLOUD_PROJECT=my-project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GOOGLE_CLOUD_LOCATION=global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MODEL=gemini-2.5-flash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0B6F3-7D2B-4468-A43E-EFDA5E6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Uses Google Cloud credentials and project-scoped model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6E091-0588-4FD8-A962-B6D6D7FF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98A75"/>
                </a:solidFill>
              </a:defRPr>
            </a:pPr>
            <a:r>
              <a:rPr sz="2250" b="1" i="0">
                <a:solidFill>
                  <a:srgbClr val="E98A75"/>
                </a:solidFill>
              </a:rPr>
              <a:t>Gemini API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2DC0B-270D-451A-A24A-C7DADEB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73FFC-5A3A-4B28-B333-C5DB7DAE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B3AA5-4EE1-42EF-9959-BC66B678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4629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GOOGLE_GENAI_USE_VERTEXAI=FALSE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GOOGLE_API_KEY=replace_me</a:t>
            </a:r>
          </a:p>
          <a:p xmlns:a="http://schemas.openxmlformats.org/drawingml/2006/main">
            <a:pPr algn="l">
              <a:defRPr sz="1200" b="0" i="0">
                <a:solidFill>
                  <a:srgbClr val="273142"/>
                </a:solidFill>
              </a:defRPr>
            </a:pPr>
            <a:r>
              <a:rPr sz="1200" b="0" i="0">
                <a:solidFill>
                  <a:srgbClr val="273142"/>
                </a:solidFill>
              </a:rPr>
              <a:t>MODEL=gemini-2.5-flash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FA88F-934F-427A-94C4-56263FE8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243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Uses a Google AI Studio key; keep .env out of source control.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1DA7F-5364-42C6-9BA2-4BE172BF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562B4-D0F3-4052-9D55-EFEC94B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816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033"/>
                </a:solidFill>
              </a:defRPr>
            </a:pPr>
            <a:r>
              <a:rPr sz="1500" b="1" i="0">
                <a:solidFill>
                  <a:srgbClr val="182033"/>
                </a:solidFill>
              </a:rPr>
              <a:t>Do not place both credential strategies in the same active .env file.</a:t>
            </a:r>
          </a:p>
        </p:txBody>
      </p:sp>
    </p:spTree>
    <p:extLst>
      <p:ext uri="{BB962C8B-B14F-4D97-AF65-F5344CB8AC3E}">
        <p14:creationId xmlns:p14="http://schemas.microsoft.com/office/powerpoint/2010/main" val="4808731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52105-78A1-49FE-8807-FFD3D9DB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AA5AF-F454-463D-AE48-54411A97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Reliability controls belong around every agent and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9C3CC-0B38-4915-BF1F-05516778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03819-422D-43EE-B649-CF11991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D58E6-8664-4AC7-AD24-676AE0F4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F9AE3-9E47-4B11-A81C-311A468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857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4262A-6394-4344-828A-4D7E51D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E59E-5470-490B-9F7F-3AE285C4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Callbacks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B06A6-4257-43AB-86C1-AD7A575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Log the query, response, and tool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9E828-AE71-48A1-ADE3-8CB2CDDF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857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CAD7B-15B9-4CA7-B74D-E7842E00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0E125-7ACF-4E3E-BEF6-54F77E5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Retries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9AFE4-5ED4-46DD-AB94-412D2046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Bound transient model failures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CA8F1-6185-439B-A263-82BA503A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857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E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BF6D5-9C33-4628-B062-6E5DDDA6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0DBE8-7507-4270-A340-B20620D0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57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Loop caps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39BF6-CD0A-4584-A878-2A819C8F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52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max_iterations prevents runaway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93EAB-48E8-47B2-8A2C-F2050D1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4857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D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C178E-431E-459C-9F91-98D4EBE9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FBBB7-82C5-4A52-817D-A8723580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57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429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32C7D-FD96-4216-88F4-24BD31D3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952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Return a controlled failure 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451B8-7305-4CC1-BA82-F2FFFA4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3400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A4FA3"/>
                </a:solidFill>
              </a:defRPr>
            </a:pPr>
            <a:r>
              <a:rPr sz="1800" b="1" i="0">
                <a:solidFill>
                  <a:srgbClr val="1A4FA3"/>
                </a:solidFill>
              </a:rPr>
              <a:t>Control flow without observability is difficult to trust and expensive to debug.</a:t>
            </a:r>
          </a:p>
        </p:txBody>
      </p:sp>
    </p:spTree>
    <p:extLst>
      <p:ext uri="{BB962C8B-B14F-4D97-AF65-F5344CB8AC3E}">
        <p14:creationId xmlns:p14="http://schemas.microsoft.com/office/powerpoint/2010/main" val="14872978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6827C-2482-4F3E-9FA3-B4867F18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85F4"/>
                </a:solidFill>
              </a:defRPr>
            </a:pPr>
            <a:r>
              <a:rPr sz="975" b="1" i="0">
                <a:solidFill>
                  <a:srgbClr val="4285F4"/>
                </a:solidFill>
              </a:rPr>
              <a:t>AGENT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0827CF-1735-4A3B-8EB2-59750865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033"/>
                </a:solidFill>
              </a:defRPr>
            </a:pPr>
            <a:r>
              <a:rPr sz="2700" b="1" i="0">
                <a:solidFill>
                  <a:srgbClr val="182033"/>
                </a:solidFill>
              </a:rPr>
              <a:t>Choose the pattern by asking what the next step depends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244BC-4FB5-4734-97E9-897EE1BF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64AB6-B4BE-4596-9FF7-AE078B1A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ADK multi-agent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1BB2B-DFF2-42D6-99B5-DB8B96EA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A84C4-B01D-4887-84BF-954B2EEA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</a:defRPr>
            </a:pPr>
            <a:r>
              <a:rPr sz="1650" b="1" i="0">
                <a:solidFill>
                  <a:srgbClr val="667085"/>
                </a:solidFill>
              </a:rPr>
              <a:t>Dependency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B2648-F5B8-4862-897C-CDCF618D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</a:defRPr>
            </a:pPr>
            <a:r>
              <a:rPr sz="1650" b="1" i="0">
                <a:solidFill>
                  <a:srgbClr val="667085"/>
                </a:solidFill>
              </a:rPr>
              <a:t>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806C1-59AF-4789-9D40-AAC11D54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FAB29-0002-4687-BC34-4A5F8F6D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E2AC7-BB91-4AFB-9948-04655F93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73142"/>
                </a:solidFill>
              </a:defRPr>
            </a:pPr>
            <a:r>
              <a:rPr sz="1575" b="0" i="0">
                <a:solidFill>
                  <a:srgbClr val="273142"/>
                </a:solidFill>
              </a:rPr>
              <a:t>One owner can finish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5BB98-0264-4A4C-8AAB-3B20DA53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033"/>
                </a:solidFill>
              </a:defRPr>
            </a:pPr>
            <a:r>
              <a:rPr sz="1650" b="1" i="0">
                <a:solidFill>
                  <a:srgbClr val="182033"/>
                </a:solidFill>
              </a:rPr>
              <a:t>Single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DCDCD-137D-4573-94F5-5A693D45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5F09C-B52E-4D1E-843F-D158C23D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8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D9194-7E67-462A-A2B1-6E55E9DE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48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73142"/>
                </a:solidFill>
              </a:defRPr>
            </a:pPr>
            <a:r>
              <a:rPr sz="1575" b="0" i="0">
                <a:solidFill>
                  <a:srgbClr val="273142"/>
                </a:solidFill>
              </a:rPr>
              <a:t>Intent selects a specialist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41CFD-C323-4BF2-9562-DEC4569F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033"/>
                </a:solidFill>
              </a:defRPr>
            </a:pPr>
            <a:r>
              <a:rPr sz="1650" b="1" i="0">
                <a:solidFill>
                  <a:srgbClr val="182033"/>
                </a:solidFill>
              </a:rPr>
              <a:t>Parent + sub-agents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45AF6-B60D-4AE4-A808-F2488BA6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C1B2F-5A4D-436C-A9B9-45C7D03A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9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40891-6021-452C-993F-C12266B4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90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73142"/>
                </a:solidFill>
              </a:defRPr>
            </a:pPr>
            <a:r>
              <a:rPr sz="1575" b="0" i="0">
                <a:solidFill>
                  <a:srgbClr val="273142"/>
                </a:solidFill>
              </a:rPr>
              <a:t>B depends on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4F229-F061-4EED-9A79-463C13E7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033"/>
                </a:solidFill>
              </a:defRPr>
            </a:pPr>
            <a:r>
              <a:rPr sz="1650" b="1" i="0">
                <a:solidFill>
                  <a:srgbClr val="182033"/>
                </a:solidFill>
              </a:rPr>
              <a:t>SequentialAgent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3C1ED-A335-4722-B8D4-9850CD04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E7CA5-5DED-4E82-A703-54A478B3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62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95B18-2CF7-4E38-BAEE-16699AF9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33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73142"/>
                </a:solidFill>
              </a:defRPr>
            </a:pPr>
            <a:r>
              <a:rPr sz="1575" b="0" i="0">
                <a:solidFill>
                  <a:srgbClr val="273142"/>
                </a:solidFill>
              </a:rPr>
              <a:t>Quality needs another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DB335-9FB7-4C9F-8786-E22F10E3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033"/>
                </a:solidFill>
              </a:defRPr>
            </a:pPr>
            <a:r>
              <a:rPr sz="1650" b="1" i="0">
                <a:solidFill>
                  <a:srgbClr val="182033"/>
                </a:solidFill>
              </a:rPr>
              <a:t>LoopAgent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EC53C-6A1D-4D68-B955-EEE681B4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7DC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2FA3A-9CC7-4509-B942-1E910715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879C7-E8E0-4DF9-9995-7B4D6D0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68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73142"/>
                </a:solidFill>
              </a:defRPr>
            </a:pPr>
            <a:r>
              <a:rPr sz="1575" b="0" i="0">
                <a:solidFill>
                  <a:srgbClr val="273142"/>
                </a:solidFill>
              </a:rPr>
              <a:t>Tasks share input, not each other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4A1E9-C05F-4C44-8EBC-8EFB4AE2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2033"/>
                </a:solidFill>
              </a:defRPr>
            </a:pPr>
            <a:r>
              <a:rPr sz="1650" b="1" i="0">
                <a:solidFill>
                  <a:srgbClr val="182033"/>
                </a:solidFill>
              </a:rPr>
              <a:t>ParallelAgent</a:t>
            </a:r>
          </a:p>
        </p:txBody>
      </p:sp>
    </p:spTree>
    <p:extLst>
      <p:ext uri="{BB962C8B-B14F-4D97-AF65-F5344CB8AC3E}">
        <p14:creationId xmlns:p14="http://schemas.microsoft.com/office/powerpoint/2010/main" val="9206555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8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4895E-B66A-4D81-9DE0-7D72C282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C95D"/>
                </a:solidFill>
              </a:defRPr>
            </a:pPr>
            <a:r>
              <a:rPr sz="1125" b="1" i="0">
                <a:solidFill>
                  <a:srgbClr val="F4C95D"/>
                </a:solidFill>
              </a:rPr>
              <a:t>BUILD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CC397-CF5A-4428-81BF-B2C6FEF7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895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One agent when simple.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A team when structure earns its cost.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4646C-FD74-4953-B5F9-2558C6C1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6DCEA"/>
                </a:solidFill>
              </a:defRPr>
            </a:pPr>
            <a:r>
              <a:rPr sz="1950" b="0" i="0">
                <a:solidFill>
                  <a:srgbClr val="D6DCEA"/>
                </a:solidFill>
              </a:rPr>
              <a:t>Delegate ambiguity. Sequence dependencies. Loop for quality. Branch for independence.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E3880-B12B-4A6C-9F93-4F9BF559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287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5985A-AFBF-4EAF-BFC6-3426493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96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82033"/>
                </a:solidFill>
              </a:defRPr>
            </a:pPr>
            <a:r>
              <a:rPr sz="1725" b="1" i="0">
                <a:solidFill>
                  <a:srgbClr val="182033"/>
                </a:solidFill>
              </a:rPr>
              <a:t>Your build challenge: prove every handoff, state update, exit condition, branch output, and final artifact.</a:t>
            </a:r>
          </a:p>
        </p:txBody>
      </p:sp>
    </p:spTree>
    <p:extLst>
      <p:ext uri="{BB962C8B-B14F-4D97-AF65-F5344CB8AC3E}">
        <p14:creationId xmlns:p14="http://schemas.microsoft.com/office/powerpoint/2010/main" val="1230396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2026-08-24T21:23:47.1460000Z</dcterms:created>
  <dcterms:modified xsi:type="dcterms:W3CDTF">2026-08-24T21:23:47.1460000Z</dcterms:modified>
</coreProperties>
</file>