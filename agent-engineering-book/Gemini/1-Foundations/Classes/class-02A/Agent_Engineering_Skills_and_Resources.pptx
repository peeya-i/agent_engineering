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7e7617f4b4cd0" /><Relationship Type="http://schemas.openxmlformats.org/officeDocument/2006/relationships/extended-properties" Target="/docProps/app.xml" Id="Recbea810077b4bd9" /><Relationship Type="http://schemas.openxmlformats.org/officeDocument/2006/relationships/officeDocument" Target="/ppt/presentation.xml" Id="Rfd1f16e50e36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6ddb3dceaa4dd7"/>
  </p:sldMasterIdLst>
  <p:notesMasterIdLst>
    <p:notesMasterId xmlns:r="http://schemas.openxmlformats.org/officeDocument/2006/relationships" r:id="Rf48d84ced3684ce8"/>
  </p:notesMasterIdLst>
  <p:sldIdLst>
    <p:sldId xmlns:r="http://schemas.openxmlformats.org/officeDocument/2006/relationships" id="256" r:id="Rc3eb322707a142b2"/>
    <p:sldId xmlns:r="http://schemas.openxmlformats.org/officeDocument/2006/relationships" id="257" r:id="R54dcd27c6fc74533"/>
    <p:sldId xmlns:r="http://schemas.openxmlformats.org/officeDocument/2006/relationships" id="258" r:id="Rd7a38742e36f4cbe"/>
    <p:sldId xmlns:r="http://schemas.openxmlformats.org/officeDocument/2006/relationships" id="259" r:id="R9a1839eef66d4d15"/>
    <p:sldId xmlns:r="http://schemas.openxmlformats.org/officeDocument/2006/relationships" id="260" r:id="Raea0c39359164b4b"/>
    <p:sldId xmlns:r="http://schemas.openxmlformats.org/officeDocument/2006/relationships" id="261" r:id="R3fd408b418ad4bad"/>
    <p:sldId xmlns:r="http://schemas.openxmlformats.org/officeDocument/2006/relationships" id="262" r:id="R7615bf74a69b4846"/>
    <p:sldId xmlns:r="http://schemas.openxmlformats.org/officeDocument/2006/relationships" id="263" r:id="R473bbc874f0c4ab5"/>
    <p:sldId xmlns:r="http://schemas.openxmlformats.org/officeDocument/2006/relationships" id="264" r:id="R6ee509c912044325"/>
    <p:sldId xmlns:r="http://schemas.openxmlformats.org/officeDocument/2006/relationships" id="265" r:id="R4a9c002ba63547a5"/>
    <p:sldId xmlns:r="http://schemas.openxmlformats.org/officeDocument/2006/relationships" id="266" r:id="Re3b47964ee3345cb"/>
    <p:sldId xmlns:r="http://schemas.openxmlformats.org/officeDocument/2006/relationships" id="267" r:id="Rbf2056a5c328435e"/>
    <p:sldId xmlns:r="http://schemas.openxmlformats.org/officeDocument/2006/relationships" id="268" r:id="Rfc04fd865ba14594"/>
    <p:sldId xmlns:r="http://schemas.openxmlformats.org/officeDocument/2006/relationships" id="269" r:id="R4ed4526883004de5"/>
    <p:sldId xmlns:r="http://schemas.openxmlformats.org/officeDocument/2006/relationships" id="270" r:id="R3ff0f78cd60245e1"/>
    <p:sldId xmlns:r="http://schemas.openxmlformats.org/officeDocument/2006/relationships" id="271" r:id="Rbc54a7e520254bc0"/>
    <p:sldId xmlns:r="http://schemas.openxmlformats.org/officeDocument/2006/relationships" id="272" r:id="R05944d4aa08e4df4"/>
    <p:sldId xmlns:r="http://schemas.openxmlformats.org/officeDocument/2006/relationships" id="273" r:id="Rdd93454f720c4419"/>
    <p:sldId xmlns:r="http://schemas.openxmlformats.org/officeDocument/2006/relationships" id="274" r:id="R47d0933ec4bb443b"/>
    <p:sldId xmlns:r="http://schemas.openxmlformats.org/officeDocument/2006/relationships" id="275" r:id="R5e1ea88a4d4145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fc7726ef9f4c76" /><Relationship Type="http://schemas.openxmlformats.org/officeDocument/2006/relationships/slideMaster" Target="/ppt/slideMasters/slideMaster1.xml" Id="Rb56ddb3dceaa4dd7" /><Relationship Type="http://schemas.openxmlformats.org/officeDocument/2006/relationships/notesMaster" Target="/ppt/notesMasters/notesMaster1.xml" Id="Rf48d84ced3684ce8" /><Relationship Type="http://schemas.openxmlformats.org/officeDocument/2006/relationships/presProps" Target="/ppt/presProps.xml" Id="R3989bdd055734cff" /><Relationship Type="http://schemas.openxmlformats.org/officeDocument/2006/relationships/tableStyles" Target="/ppt/tableStyles.xml" Id="Rc91c5d0638414efc" /><Relationship Type="http://schemas.openxmlformats.org/officeDocument/2006/relationships/slide" Target="/ppt/slides/slide1.xml" Id="Rc3eb322707a142b2" /><Relationship Type="http://schemas.openxmlformats.org/officeDocument/2006/relationships/slide" Target="/ppt/slides/slide2.xml" Id="R54dcd27c6fc74533" /><Relationship Type="http://schemas.openxmlformats.org/officeDocument/2006/relationships/slide" Target="/ppt/slides/slide3.xml" Id="Rd7a38742e36f4cbe" /><Relationship Type="http://schemas.openxmlformats.org/officeDocument/2006/relationships/slide" Target="/ppt/slides/slide4.xml" Id="R9a1839eef66d4d15" /><Relationship Type="http://schemas.openxmlformats.org/officeDocument/2006/relationships/slide" Target="/ppt/slides/slide5.xml" Id="Raea0c39359164b4b" /><Relationship Type="http://schemas.openxmlformats.org/officeDocument/2006/relationships/slide" Target="/ppt/slides/slide6.xml" Id="R3fd408b418ad4bad" /><Relationship Type="http://schemas.openxmlformats.org/officeDocument/2006/relationships/slide" Target="/ppt/slides/slide7.xml" Id="R7615bf74a69b4846" /><Relationship Type="http://schemas.openxmlformats.org/officeDocument/2006/relationships/slide" Target="/ppt/slides/slide8.xml" Id="R473bbc874f0c4ab5" /><Relationship Type="http://schemas.openxmlformats.org/officeDocument/2006/relationships/slide" Target="/ppt/slides/slide9.xml" Id="R6ee509c912044325" /><Relationship Type="http://schemas.openxmlformats.org/officeDocument/2006/relationships/slide" Target="/ppt/slides/slide10.xml" Id="R4a9c002ba63547a5" /><Relationship Type="http://schemas.openxmlformats.org/officeDocument/2006/relationships/slide" Target="/ppt/slides/slide11.xml" Id="Re3b47964ee3345cb" /><Relationship Type="http://schemas.openxmlformats.org/officeDocument/2006/relationships/slide" Target="/ppt/slides/slide12.xml" Id="Rbf2056a5c328435e" /><Relationship Type="http://schemas.openxmlformats.org/officeDocument/2006/relationships/slide" Target="/ppt/slides/slide13.xml" Id="Rfc04fd865ba14594" /><Relationship Type="http://schemas.openxmlformats.org/officeDocument/2006/relationships/slide" Target="/ppt/slides/slide14.xml" Id="R4ed4526883004de5" /><Relationship Type="http://schemas.openxmlformats.org/officeDocument/2006/relationships/slide" Target="/ppt/slides/slide15.xml" Id="R3ff0f78cd60245e1" /><Relationship Type="http://schemas.openxmlformats.org/officeDocument/2006/relationships/slide" Target="/ppt/slides/slide16.xml" Id="Rbc54a7e520254bc0" /><Relationship Type="http://schemas.openxmlformats.org/officeDocument/2006/relationships/slide" Target="/ppt/slides/slide17.xml" Id="R05944d4aa08e4df4" /><Relationship Type="http://schemas.openxmlformats.org/officeDocument/2006/relationships/slide" Target="/ppt/slides/slide18.xml" Id="Rdd93454f720c4419" /><Relationship Type="http://schemas.openxmlformats.org/officeDocument/2006/relationships/slide" Target="/ppt/slides/slide19.xml" Id="R47d0933ec4bb443b" /><Relationship Type="http://schemas.openxmlformats.org/officeDocument/2006/relationships/slide" Target="/ppt/slides/slide20.xml" Id="R5e1ea88a4d4145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fa6408785a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6f4b05d494814" /><Relationship Type="http://schemas.openxmlformats.org/officeDocument/2006/relationships/notesMaster" Target="/ppt/notesMasters/notesMaster1.xml" Id="R60efe7ed32264f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440ea7c654c60" /><Relationship Type="http://schemas.openxmlformats.org/officeDocument/2006/relationships/notesMaster" Target="/ppt/notesMasters/notesMaster1.xml" Id="R78c7d0c79fda45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0acf00327c421a" /><Relationship Type="http://schemas.openxmlformats.org/officeDocument/2006/relationships/notesMaster" Target="/ppt/notesMasters/notesMaster1.xml" Id="R27bbcb67a2ed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717c1944334af4" /><Relationship Type="http://schemas.openxmlformats.org/officeDocument/2006/relationships/notesMaster" Target="/ppt/notesMasters/notesMaster1.xml" Id="R21667b530e744b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b089159e7b46d0" /><Relationship Type="http://schemas.openxmlformats.org/officeDocument/2006/relationships/notesMaster" Target="/ppt/notesMasters/notesMaster1.xml" Id="R419e9ff529e3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297317a884d68" /><Relationship Type="http://schemas.openxmlformats.org/officeDocument/2006/relationships/notesMaster" Target="/ppt/notesMasters/notesMaster1.xml" Id="R48d0d877d6cd47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4a3984ee4e4f58" /><Relationship Type="http://schemas.openxmlformats.org/officeDocument/2006/relationships/notesMaster" Target="/ppt/notesMasters/notesMaster1.xml" Id="R7384c83f24e04e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f0a8e1b87f47cb" /><Relationship Type="http://schemas.openxmlformats.org/officeDocument/2006/relationships/notesMaster" Target="/ppt/notesMasters/notesMaster1.xml" Id="Rc74bc4e2ae5c4c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7b2b2cce644fb7" /><Relationship Type="http://schemas.openxmlformats.org/officeDocument/2006/relationships/notesMaster" Target="/ppt/notesMasters/notesMaster1.xml" Id="Rf29a07fa69744e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573fb0910748a0" /><Relationship Type="http://schemas.openxmlformats.org/officeDocument/2006/relationships/notesMaster" Target="/ppt/notesMasters/notesMaster1.xml" Id="Rb5c3e7a8341b48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8a67a93cdd495f" /><Relationship Type="http://schemas.openxmlformats.org/officeDocument/2006/relationships/notesMaster" Target="/ppt/notesMasters/notesMaster1.xml" Id="R250ac75942334a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c10ca59f034253" /><Relationship Type="http://schemas.openxmlformats.org/officeDocument/2006/relationships/notesMaster" Target="/ppt/notesMasters/notesMaster1.xml" Id="R8f8544fadc5440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70c2bc3c184825" /><Relationship Type="http://schemas.openxmlformats.org/officeDocument/2006/relationships/notesMaster" Target="/ppt/notesMasters/notesMaster1.xml" Id="R6fc1d525bff741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61bb927f514c56" /><Relationship Type="http://schemas.openxmlformats.org/officeDocument/2006/relationships/notesMaster" Target="/ppt/notesMasters/notesMaster1.xml" Id="R1e746f5e73e74f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f71e6578834193" /><Relationship Type="http://schemas.openxmlformats.org/officeDocument/2006/relationships/notesMaster" Target="/ppt/notesMasters/notesMaster1.xml" Id="R3192b54d51244d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29b7547fde4981" /><Relationship Type="http://schemas.openxmlformats.org/officeDocument/2006/relationships/notesMaster" Target="/ppt/notesMasters/notesMaster1.xml" Id="R82acae637cdc40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60072ba5444d1c" /><Relationship Type="http://schemas.openxmlformats.org/officeDocument/2006/relationships/notesMaster" Target="/ppt/notesMasters/notesMaster1.xml" Id="R9e429772349546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f18c0a834d4074" /><Relationship Type="http://schemas.openxmlformats.org/officeDocument/2006/relationships/notesMaster" Target="/ppt/notesMasters/notesMaster1.xml" Id="Re269019a14d24f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14327e8adc4e00" /><Relationship Type="http://schemas.openxmlformats.org/officeDocument/2006/relationships/notesMaster" Target="/ppt/notesMasters/notesMaster1.xml" Id="R07e2fb894d6b4d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36f23444a240b5" /><Relationship Type="http://schemas.openxmlformats.org/officeDocument/2006/relationships/notesMaster" Target="/ppt/notesMasters/notesMaster1.xml" Id="R647f6238c718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Today we will turn skills from a feature into an engineering discipline.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session is about progressive disclosure, not about writing a larger system prompt.</a:t>
            </a:r>
          </a:p>
          <a:p xmlns:a="http://schemas.openxmlformats.org/drawingml/2006/main">
            <a:r>
              <a:t>- We will separate discovery metadata, operating instructions, and deep resources.</a:t>
            </a:r>
          </a:p>
          <a:p xmlns:a="http://schemas.openxmlformats.org/drawingml/2006/main">
            <a:r>
              <a:t>- Students will build and trace a working WidgetWare Renewal Desk skill.</a:t>
            </a:r>
          </a:p>
          <a:p xmlns:a="http://schemas.openxmlformats.org/drawingml/2006/main">
            <a:r>
              <a:t>- The lab uses references, an asset template, and a deterministic script.</a:t>
            </a:r>
          </a:p>
          <a:p xmlns:a="http://schemas.openxmlformats.org/drawingml/2006/main">
            <a:r>
              <a:t>- Success includes grounded refusal when the resources do not support a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core idea is simple: reveal the right capability, instruction, and evidence at the right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More context is not automatically better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monolithic prompt asks the model to continuously resolve irrelevant instructions.</a:t>
            </a:r>
          </a:p>
          <a:p xmlns:a="http://schemas.openxmlformats.org/drawingml/2006/main">
            <a:r>
              <a:t>- As capabilities grow, instruction interference becomes an architectural problem.</a:t>
            </a:r>
          </a:p>
          <a:p xmlns:a="http://schemas.openxmlformats.org/drawingml/2006/main">
            <a:r>
              <a:t>- Policy changes become risky because there is no clean ownership boundary.</a:t>
            </a:r>
          </a:p>
          <a:p xmlns:a="http://schemas.openxmlformats.org/drawingml/2006/main">
            <a:r>
              <a:t>- Testing becomes vague: we cannot isolate the procedure from the knowledge source.</a:t>
            </a:r>
          </a:p>
          <a:p xmlns:a="http://schemas.openxmlformats.org/drawingml/2006/main">
            <a:r>
              <a:t>- Skills replace always-on detail with deliberate, inspectable loading.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goal is not maximum context; it is minimum sufficient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This class moves from vocabulary to an observable engineering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First, we need precise language for the objects in an agent system.</a:t>
            </a:r>
          </a:p>
          <a:p xmlns:a="http://schemas.openxmlformats.org/drawingml/2006/main">
            <a:r>
              <a:t>- Second, students design the three disclosure levels with distinct responsibilities.</a:t>
            </a:r>
          </a:p>
          <a:p xmlns:a="http://schemas.openxmlformats.org/drawingml/2006/main">
            <a:r>
              <a:t>- Third, they prove behavior using ADK trace evidence rather than intuition.</a:t>
            </a:r>
          </a:p>
          <a:p xmlns:a="http://schemas.openxmlformats.org/drawingml/2006/main">
            <a:r>
              <a:t>- Fourth, they evaluate both answer quality and resource restraint.</a:t>
            </a:r>
          </a:p>
          <a:p xmlns:a="http://schemas.openxmlformats.org/drawingml/2006/main">
            <a:r>
              <a:t>- The assignment finishes with a reusable, versionable skill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By the end, students should be able to explain not only what the agent answered, but why each instruction and resource was loaded.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These terms are related, but they are not interchangeable.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prompt is an instruction surface, often scoped to one agent or turn.</a:t>
            </a:r>
          </a:p>
          <a:p xmlns:a="http://schemas.openxmlformats.org/drawingml/2006/main">
            <a:r>
              <a:t>- A skill is reusable and versionable expertise with an activation boundary.</a:t>
            </a:r>
          </a:p>
          <a:p xmlns:a="http://schemas.openxmlformats.org/drawingml/2006/main">
            <a:r>
              <a:t>- A resource is detail the skill can fetch without permanently occupying context.</a:t>
            </a:r>
          </a:p>
          <a:p xmlns:a="http://schemas.openxmlformats.org/drawingml/2006/main">
            <a:r>
              <a:t>- A tool gives the agent hands; it executes or retrieves rather than merely instructs.</a:t>
            </a:r>
          </a:p>
          <a:p xmlns:a="http://schemas.openxmlformats.org/drawingml/2006/main">
            <a:r>
              <a:t>- A workflow coordinates stages, agents, state, and control flow.</a:t>
            </a:r>
          </a:p>
          <a:p xmlns:a="http://schemas.openxmlformats.org/drawingml/2006/main">
            <a:r>
              <a:t>- Confusing these objects leads to mega-prompts and brittle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Architecture improves when each engineering object has one clear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Progressive disclosure lets the agent pay context cost only when it earns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L1 is small and visible early so the model can discover relevant capabilities.</a:t>
            </a:r>
          </a:p>
          <a:p xmlns:a="http://schemas.openxmlformats.org/drawingml/2006/main">
            <a:r>
              <a:t>- L2 loads only after the skill appears relevant to the request.</a:t>
            </a:r>
          </a:p>
          <a:p xmlns:a="http://schemas.openxmlformats.org/drawingml/2006/main">
            <a:r>
              <a:t>- L3 files load one at a time as the procedure demands evidence or execution.</a:t>
            </a:r>
          </a:p>
          <a:p xmlns:a="http://schemas.openxmlformats.org/drawingml/2006/main">
            <a:r>
              <a:t>- The movement is discovery, then procedure, then grounded detail.</a:t>
            </a:r>
          </a:p>
          <a:p xmlns:a="http://schemas.openxmlformats.org/drawingml/2006/main">
            <a:r>
              <a:t>- A strong skill can remain small at L1 while still being deep at L3.</a:t>
            </a:r>
          </a:p>
          <a:p xmlns:a="http://schemas.openxmlformats.org/drawingml/2006/main">
            <a:r>
              <a:t>- The trace makes each disclosure step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Progressive disclosure separates capability breadth from context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L1 is a routing contract, not a compressed policy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skill name must be stable, concise, and machine-friendly.</a:t>
            </a:r>
          </a:p>
          <a:p xmlns:a="http://schemas.openxmlformats.org/drawingml/2006/main">
            <a:r>
              <a:t>- The description should contain the user intents that should activate the skill.</a:t>
            </a:r>
          </a:p>
          <a:p xmlns:a="http://schemas.openxmlformats.org/drawingml/2006/main">
            <a:r>
              <a:t>- Exclusions reduce false positives, such as product troubleshooting.</a:t>
            </a:r>
          </a:p>
          <a:p xmlns:a="http://schemas.openxmlformats.org/drawingml/2006/main">
            <a:r>
              <a:t>- Detailed thresholds do not belong in metadata because they would always occupy context.</a:t>
            </a:r>
          </a:p>
          <a:p xmlns:a="http://schemas.openxmlformats.org/drawingml/2006/main">
            <a:r>
              <a:t>- Good L1 metadata improves both recall and precision of skill selection.</a:t>
            </a:r>
          </a:p>
          <a:p xmlns:a="http://schemas.openxmlformats.org/drawingml/2006/main">
            <a:r>
              <a:t>- Students should test at least one positive and one negative trigger.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L1 should be rich enough to route and small enough to stay cheap.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L2 body should behave like a concise runbook for the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L2 contains the procedure, not the full policy detail.</a:t>
            </a:r>
          </a:p>
          <a:p xmlns:a="http://schemas.openxmlformats.org/drawingml/2006/main">
            <a:r>
              <a:t>- It must tell the agent which inputs are necessary for each decision.</a:t>
            </a:r>
          </a:p>
          <a:p xmlns:a="http://schemas.openxmlformats.org/drawingml/2006/main">
            <a:r>
              <a:t>- Exact resource paths are essential because vague names invite hallucinated filenames.</a:t>
            </a:r>
          </a:p>
          <a:p xmlns:a="http://schemas.openxmlformats.org/drawingml/2006/main">
            <a:r>
              <a:t>- The minimum-resource rule makes selective loading intentional.</a:t>
            </a:r>
          </a:p>
          <a:p xmlns:a="http://schemas.openxmlformats.org/drawingml/2006/main">
            <a:r>
              <a:t>- The output contract creates consistent answers and citations.</a:t>
            </a:r>
          </a:p>
          <a:p xmlns:a="http://schemas.openxmlformats.org/drawingml/2006/main">
            <a:r>
              <a:t>- Unsupported behavior belongs in the procedure, not as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L2 is successful when another agent can follow it without guessing either the steps or the source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L3 is where a compact skill gains depth without making that depth permanent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References hold detailed policy and extended guidance.</a:t>
            </a:r>
          </a:p>
          <a:p xmlns:a="http://schemas.openxmlformats.org/drawingml/2006/main">
            <a:r>
              <a:t>- Assets provide official forms, schemas, templates, or examples.</a:t>
            </a:r>
          </a:p>
          <a:p xmlns:a="http://schemas.openxmlformats.org/drawingml/2006/main">
            <a:r>
              <a:t>- Scripts make arithmetic and other deterministic transformations repeatable.</a:t>
            </a:r>
          </a:p>
          <a:p xmlns:a="http://schemas.openxmlformats.org/drawingml/2006/main">
            <a:r>
              <a:t>- The agent should load a reference rather than rely on memory for internal policy.</a:t>
            </a:r>
          </a:p>
          <a:p xmlns:a="http://schemas.openxmlformats.org/drawingml/2006/main">
            <a:r>
              <a:t>- The agent should run a reviewed script rather than improvise requested deterministic math.</a:t>
            </a:r>
          </a:p>
          <a:p xmlns:a="http://schemas.openxmlformats.org/drawingml/2006/main">
            <a:r>
              <a:t>- Resources should be trusted, versioned, and named exactly in L2.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L3 turns a skill from a prompt fragment into grounded, executable expertise.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scenario is deliberately ordinary: that makes the architecture—not the novelty—the focus.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Students are not asked to invent company policy; the source files are supplied.</a:t>
            </a:r>
          </a:p>
          <a:p xmlns:a="http://schemas.openxmlformats.org/drawingml/2006/main">
            <a:r>
              <a:t>- Their task is to design how the agent discovers, loads, and applies that policy.</a:t>
            </a:r>
          </a:p>
          <a:p xmlns:a="http://schemas.openxmlformats.org/drawingml/2006/main">
            <a:r>
              <a:t>- The scenario includes single-source, cross-source, asset, script, and unsupported cases.</a:t>
            </a:r>
          </a:p>
          <a:p xmlns:a="http://schemas.openxmlformats.org/drawingml/2006/main">
            <a:r>
              <a:t>- Commercial status words matter: requested, routed, and approved are different states.</a:t>
            </a:r>
          </a:p>
          <a:p xmlns:a="http://schemas.openxmlformats.org/drawingml/2006/main">
            <a:r>
              <a:t>- The agent must ask for missing information rather than assume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mission is to engineer trustworthy behavior around a realistic enterprise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directory is part of the architecture, not just a packaging convention.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SKILL.md holds both L1 frontmatter and the L2 instruction body.</a:t>
            </a:r>
          </a:p>
          <a:p xmlns:a="http://schemas.openxmlformats.org/drawingml/2006/main">
            <a:r>
              <a:t>- References separate policy ownership from the procedure that consumes it.</a:t>
            </a:r>
          </a:p>
          <a:p xmlns:a="http://schemas.openxmlformats.org/drawingml/2006/main">
            <a:r>
              <a:t>- Assets capture official output structure without bloating the instructions.</a:t>
            </a:r>
          </a:p>
          <a:p xmlns:a="http://schemas.openxmlformats.org/drawingml/2006/main">
            <a:r>
              <a:t>- Scripts make deterministic steps independently testable.</a:t>
            </a:r>
          </a:p>
          <a:p xmlns:a="http://schemas.openxmlformats.org/drawingml/2006/main">
            <a:r>
              <a:t>- Exact filenames provide stable, inspectable routing targets.</a:t>
            </a:r>
          </a:p>
          <a:p xmlns:a="http://schemas.openxmlformats.org/drawingml/2006/main">
            <a:r>
              <a:t>- Version control can now review policy, procedure, and executable changes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 well-structured skill package turns context into an engineering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Selective loading is not something we hope the model does; it is something L2 must instruct and the trace must 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Start by identifying the exact decision, artifact, or calculation requested.</a:t>
            </a:r>
          </a:p>
          <a:p xmlns:a="http://schemas.openxmlformats.org/drawingml/2006/main">
            <a:r>
              <a:t>- Load the skill before attempting to follow its internal process.</a:t>
            </a:r>
          </a:p>
          <a:p xmlns:a="http://schemas.openxmlformats.org/drawingml/2006/main">
            <a:r>
              <a:t>- Use the L2 routing map to select the minimum exact L3 paths.</a:t>
            </a:r>
          </a:p>
          <a:p xmlns:a="http://schemas.openxmlformats.org/drawingml/2006/main">
            <a:r>
              <a:t>- Cross-resource requests may justify more than one reference.</a:t>
            </a:r>
          </a:p>
          <a:p xmlns:a="http://schemas.openxmlformats.org/drawingml/2006/main">
            <a:r>
              <a:t>- Simple requests should remain simple and load only one source.</a:t>
            </a:r>
          </a:p>
          <a:p xmlns:a="http://schemas.openxmlformats.org/drawingml/2006/main">
            <a:r>
              <a:t>- The final answer should reveal both the conclusion and its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Minimum necessary loading is a quality requirement, not merely a token optimization.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Before students fix the skill, they need evidence of what the unfinished architecture does.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starter package is runnable even though its L1 and L2 content are incomplete.</a:t>
            </a:r>
          </a:p>
          <a:p xmlns:a="http://schemas.openxmlformats.org/drawingml/2006/main">
            <a:r>
              <a:t>- Structural tests deliberately fail on unfinished metadata, TODOs, missing paths, and safety contracts.</a:t>
            </a:r>
          </a:p>
          <a:p xmlns:a="http://schemas.openxmlformats.org/drawingml/2006/main">
            <a:r>
              <a:t>- The first prompt isolates L1 visibility.</a:t>
            </a:r>
          </a:p>
          <a:p xmlns:a="http://schemas.openxmlformats.org/drawingml/2006/main">
            <a:r>
              <a:t>- The second prompt exposes the weakness of an underspecified L2 procedure.</a:t>
            </a:r>
          </a:p>
          <a:p xmlns:a="http://schemas.openxmlformats.org/drawingml/2006/main">
            <a:r>
              <a:t>- Students record the trace so they can compare before and after behavior.</a:t>
            </a:r>
          </a:p>
          <a:p xmlns:a="http://schemas.openxmlformats.org/drawingml/2006/main">
            <a:r>
              <a:t>- Use a new session for each evaluation case to avoid hidden conversational carryover.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 baseline converts improvement from opinion into observable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L1 quality determines whether the right expertise is even considered.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weak description is too vague to distinguish this skill from general assistance.</a:t>
            </a:r>
          </a:p>
          <a:p xmlns:a="http://schemas.openxmlformats.org/drawingml/2006/main">
            <a:r>
              <a:t>- A stronger description lists the major intents students will evaluate.</a:t>
            </a:r>
          </a:p>
          <a:p xmlns:a="http://schemas.openxmlformats.org/drawingml/2006/main">
            <a:r>
              <a:t>- Exclusions prevent unrelated technical-support prompts from activating the renewal skill.</a:t>
            </a:r>
          </a:p>
          <a:p xmlns:a="http://schemas.openxmlformats.org/drawingml/2006/main">
            <a:r>
              <a:t>- Policy thresholds stay out of L1 because they belong in a versioned reference.</a:t>
            </a:r>
          </a:p>
          <a:p xmlns:a="http://schemas.openxmlformats.org/drawingml/2006/main">
            <a:r>
              <a:t>- Students should use words a customer-success manager would naturally say.</a:t>
            </a:r>
          </a:p>
          <a:p xmlns:a="http://schemas.openxmlformats.org/drawingml/2006/main">
            <a:r>
              <a:t>- The structural test enforces completion and minimum specificity, but trace behavior is the real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Good L1 metadata improves routing precision without increasing permanent policy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routing map is the center of the L2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Each intent maps to an exact relative path.</a:t>
            </a:r>
          </a:p>
          <a:p xmlns:a="http://schemas.openxmlformats.org/drawingml/2006/main">
            <a:r>
              <a:t>- The procedure should start with scope and required-input checks.</a:t>
            </a:r>
          </a:p>
          <a:p xmlns:a="http://schemas.openxmlformats.org/drawingml/2006/main">
            <a:r>
              <a:t>- The agent loads only the row or rows required by the request.</a:t>
            </a:r>
          </a:p>
          <a:p xmlns:a="http://schemas.openxmlformats.org/drawingml/2006/main">
            <a:r>
              <a:t>- Templates load only when a brief is requested.</a:t>
            </a:r>
          </a:p>
          <a:p xmlns:a="http://schemas.openxmlformats.org/drawingml/2006/main">
            <a:r>
              <a:t>- The calculator runs only when dollar arithmetic is requested or needed for the brief.</a:t>
            </a:r>
          </a:p>
          <a:p xmlns:a="http://schemas.openxmlformats.org/drawingml/2006/main">
            <a:r>
              <a:t>- Citations use the same exact relative paths so evidence remains inspectable.</a:t>
            </a:r>
          </a:p>
          <a:p xmlns:a="http://schemas.openxmlformats.org/drawingml/2006/main">
            <a:r>
              <a:t>- If a named path fails, the agent should report it instead of repeatedly guessing alternatives.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Exact paths transform L2 from advice into executable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Cases A and B test restraint; Case C tests justified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Case A should not load renewal timing or risk policy.</a:t>
            </a:r>
          </a:p>
          <a:p xmlns:a="http://schemas.openxmlformats.org/drawingml/2006/main">
            <a:r>
              <a:t>- Case B should not load discount policy merely because the scenario is a renewal.</a:t>
            </a:r>
          </a:p>
          <a:p xmlns:a="http://schemas.openxmlformats.org/drawingml/2006/main">
            <a:r>
              <a:t>- Case C contains three distinct decision dimensions, so three references are justified.</a:t>
            </a:r>
          </a:p>
          <a:p xmlns:a="http://schemas.openxmlformats.org/drawingml/2006/main">
            <a:r>
              <a:t>- Students should predict the resource set before executing each case.</a:t>
            </a:r>
          </a:p>
          <a:p xmlns:a="http://schemas.openxmlformats.org/drawingml/2006/main">
            <a:r>
              <a:t>- The answer must cite each policy-derived conclusion, not only list sources at the end.</a:t>
            </a:r>
          </a:p>
          <a:p xmlns:a="http://schemas.openxmlformats.org/drawingml/2006/main">
            <a:r>
              <a:t>- A correct answer with unnecessary resources is not full credit.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Resource count should follow question complexity—not habit.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These cases prove that L3 is more than document lookup.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Case D uses an asset to control the shape of the output.</a:t>
            </a:r>
          </a:p>
          <a:p xmlns:a="http://schemas.openxmlformats.org/drawingml/2006/main">
            <a:r>
              <a:t>- The brief should preserve missing fields instead of fabricating customer facts.</a:t>
            </a:r>
          </a:p>
          <a:p xmlns:a="http://schemas.openxmlformats.org/drawingml/2006/main">
            <a:r>
              <a:t>- Case E separates deterministic arithmetic from policy interpretation.</a:t>
            </a:r>
          </a:p>
          <a:p xmlns:a="http://schemas.openxmlformats.org/drawingml/2006/main">
            <a:r>
              <a:t>- The script supplies numbers; the reference supplies approval authority.</a:t>
            </a:r>
          </a:p>
          <a:p xmlns:a="http://schemas.openxmlformats.org/drawingml/2006/main">
            <a:r>
              <a:t>- Case F tests whether the agent respects the resource evidence boundary.</a:t>
            </a:r>
          </a:p>
          <a:p xmlns:a="http://schemas.openxmlformats.org/drawingml/2006/main">
            <a:r>
              <a:t>- The correct response says the source does not establish the requested control or promise and follows the escalation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Skills become trustworthy when they know when to retrieve, when to execute, and when to abstain.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trace turns invisible context decisions into inspectable engineering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At L1, verify that the skill was discoverable for the request.</a:t>
            </a:r>
          </a:p>
          <a:p xmlns:a="http://schemas.openxmlformats.org/drawingml/2006/main">
            <a:r>
              <a:t>- At L2, verify that instructions loaded before policy was applied.</a:t>
            </a:r>
          </a:p>
          <a:p xmlns:a="http://schemas.openxmlformats.org/drawingml/2006/main">
            <a:r>
              <a:t>- At L3, record the exact resources and scripts invoked.</a:t>
            </a:r>
          </a:p>
          <a:p xmlns:a="http://schemas.openxmlformats.org/drawingml/2006/main">
            <a:r>
              <a:t>- Compare loaded resources with the minimum set you predicted.</a:t>
            </a:r>
          </a:p>
          <a:p xmlns:a="http://schemas.openxmlformats.org/drawingml/2006/main">
            <a:r>
              <a:t>- Check the final answer for path-level citations and unsupported-claim handling.</a:t>
            </a:r>
          </a:p>
          <a:p xmlns:a="http://schemas.openxmlformats.org/drawingml/2006/main">
            <a:r>
              <a:t>- Use new sessions so prior loaded context does not confuse the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Do not accept ‘the answer looks right’ when the trace shows the architecture behaved poorly.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When a skill misbehaves, inspect its contracts before blaming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L1 leakage often begins with trying to make routing metadata too helpful.</a:t>
            </a:r>
          </a:p>
          <a:p xmlns:a="http://schemas.openxmlformats.org/drawingml/2006/main">
            <a:r>
              <a:t>- Vague filenames create avoidable hallucination surfaces.</a:t>
            </a:r>
          </a:p>
          <a:p xmlns:a="http://schemas.openxmlformats.org/drawingml/2006/main">
            <a:r>
              <a:t>- Over-loading may still produce a correct answer, but the architecture is inefficient and fragile.</a:t>
            </a:r>
          </a:p>
          <a:p xmlns:a="http://schemas.openxmlformats.org/drawingml/2006/main">
            <a:r>
              <a:t>- Deterministic operations belong in reviewed scripts or tools.</a:t>
            </a:r>
          </a:p>
          <a:p xmlns:a="http://schemas.openxmlformats.org/drawingml/2006/main">
            <a:r>
              <a:t>- State language must distinguish requested, routed, and approved.</a:t>
            </a:r>
          </a:p>
          <a:p xmlns:a="http://schemas.openxmlformats.org/drawingml/2006/main">
            <a:r>
              <a:t>- Unsupported claims should trigger explicit abstention and escalation.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Reliable skills depend on precise activation, routing, execution, and evidence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rubric rewards correctness, but it also rewards disciplined context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Each evaluation case receives five binary checks.</a:t>
            </a:r>
          </a:p>
          <a:p xmlns:a="http://schemas.openxmlformats.org/drawingml/2006/main">
            <a:r>
              <a:t>- Minimum resource loading is scored separately from factual correctness.</a:t>
            </a:r>
          </a:p>
          <a:p xmlns:a="http://schemas.openxmlformats.org/drawingml/2006/main">
            <a:r>
              <a:t>- Citations must name exact relative paths, not vague source labels.</a:t>
            </a:r>
          </a:p>
          <a:p xmlns:a="http://schemas.openxmlformats.org/drawingml/2006/main">
            <a:r>
              <a:t>- The unsupported case must be safe even if the requested answer sounds plausible.</a:t>
            </a:r>
          </a:p>
          <a:p xmlns:a="http://schemas.openxmlformats.org/drawingml/2006/main">
            <a:r>
              <a:t>- The 100-point rubric places equal weight on L2 procedure and L3 routing.</a:t>
            </a:r>
          </a:p>
          <a:p xmlns:a="http://schemas.openxmlformats.org/drawingml/2006/main">
            <a:r>
              <a:t>- Students iterate on SKILL.md when a case scores below four out of five.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Evaluation should measure the whole agent behavior—not just the final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model supplies intelligence; the skill engineers how that intelligence is applied.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L1 makes the right capability discoverable.</a:t>
            </a:r>
          </a:p>
          <a:p xmlns:a="http://schemas.openxmlformats.org/drawingml/2006/main">
            <a:r>
              <a:t>- L2 converts that capability into a repeatable procedure.</a:t>
            </a:r>
          </a:p>
          <a:p xmlns:a="http://schemas.openxmlformats.org/drawingml/2006/main">
            <a:r>
              <a:t>- L3 grounds the procedure with only the evidence or execution needed now.</a:t>
            </a:r>
          </a:p>
          <a:p xmlns:a="http://schemas.openxmlformats.org/drawingml/2006/main">
            <a:r>
              <a:t>- Trace evidence proves the architecture rather than asking us to trust it.</a:t>
            </a:r>
          </a:p>
          <a:p xmlns:a="http://schemas.openxmlformats.org/drawingml/2006/main">
            <a:r>
              <a:t>- Evaluation includes correctness, restraint, citations, and safe abstention.</a:t>
            </a:r>
          </a:p>
          <a:p xmlns:a="http://schemas.openxmlformats.org/drawingml/2006/main">
            <a:r>
              <a:t>- The completed assignment is a reusable skill package, not merely a successful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Good agent engineering reveals the right capability, instruction, and evidence at the right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https://adk.dev/skills/</a:t>
            </a:r>
          </a:p>
          <a:p xmlns:a="http://schemas.openxmlformats.org/drawingml/2006/main">
            <a:r>
              <a:t>- Agent Engineering Skills Lab package (course-created)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00db9f01c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74453e952542b6" /><Relationship Type="http://schemas.openxmlformats.org/officeDocument/2006/relationships/slideLayout" Target="/ppt/slideLayouts/slideLayout1.xml" Id="Rbd80872bfec94a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0872bfec94a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6f6d8935b4ef7" /><Relationship Type="http://schemas.openxmlformats.org/officeDocument/2006/relationships/notesSlide" Target="/ppt/notesSlides/notesSlide1.xml" Id="R530d4b7d2cc9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63ca1ac54312" /><Relationship Type="http://schemas.openxmlformats.org/officeDocument/2006/relationships/notesSlide" Target="/ppt/notesSlides/notesSlide2.xml" Id="Rb1f619a40a654b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c2a8a4eb74030" /><Relationship Type="http://schemas.openxmlformats.org/officeDocument/2006/relationships/notesSlide" Target="/ppt/notesSlides/notesSlide3.xml" Id="R51bff6ddc60c48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c3293f564d50" /><Relationship Type="http://schemas.openxmlformats.org/officeDocument/2006/relationships/notesSlide" Target="/ppt/notesSlides/notesSlide4.xml" Id="R39055ecad923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f39b25401418c" /><Relationship Type="http://schemas.openxmlformats.org/officeDocument/2006/relationships/notesSlide" Target="/ppt/notesSlides/notesSlide5.xml" Id="R1fd13aaab49d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ca021d6404beb" /><Relationship Type="http://schemas.openxmlformats.org/officeDocument/2006/relationships/notesSlide" Target="/ppt/notesSlides/notesSlide6.xml" Id="Re51900e9a418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55bb66b1b4caa" /><Relationship Type="http://schemas.openxmlformats.org/officeDocument/2006/relationships/notesSlide" Target="/ppt/notesSlides/notesSlide7.xml" Id="R0f988737d6a0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6b0d7fca345ba" /><Relationship Type="http://schemas.openxmlformats.org/officeDocument/2006/relationships/notesSlide" Target="/ppt/notesSlides/notesSlide8.xml" Id="R3c857179c53946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1e7c90ebe4c3d" /><Relationship Type="http://schemas.openxmlformats.org/officeDocument/2006/relationships/notesSlide" Target="/ppt/notesSlides/notesSlide9.xml" Id="R83277c91f2f44d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978fa57814dee" /><Relationship Type="http://schemas.openxmlformats.org/officeDocument/2006/relationships/notesSlide" Target="/ppt/notesSlides/notesSlide10.xml" Id="R99ae0fceaab648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6d69a765044f6" /><Relationship Type="http://schemas.openxmlformats.org/officeDocument/2006/relationships/notesSlide" Target="/ppt/notesSlides/notesSlide11.xml" Id="R7496f639670840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88a73d4844903" /><Relationship Type="http://schemas.openxmlformats.org/officeDocument/2006/relationships/notesSlide" Target="/ppt/notesSlides/notesSlide12.xml" Id="Rf53507dae2e04e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608bab57c4c11" /><Relationship Type="http://schemas.openxmlformats.org/officeDocument/2006/relationships/notesSlide" Target="/ppt/notesSlides/notesSlide13.xml" Id="R4eb37d621d0a4c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db3898fbe4fa0" /><Relationship Type="http://schemas.openxmlformats.org/officeDocument/2006/relationships/notesSlide" Target="/ppt/notesSlides/notesSlide14.xml" Id="Rcb3fc3f6458f42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f281a0bb4287" /><Relationship Type="http://schemas.openxmlformats.org/officeDocument/2006/relationships/notesSlide" Target="/ppt/notesSlides/notesSlide15.xml" Id="R2c205784d2b642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8089d82bf4e5e" /><Relationship Type="http://schemas.openxmlformats.org/officeDocument/2006/relationships/notesSlide" Target="/ppt/notesSlides/notesSlide16.xml" Id="R4d5e0744e6484f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6df0d68a40d6" /><Relationship Type="http://schemas.openxmlformats.org/officeDocument/2006/relationships/notesSlide" Target="/ppt/notesSlides/notesSlide17.xml" Id="Ra3bd88a1e5894d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c3815b5a1403e" /><Relationship Type="http://schemas.openxmlformats.org/officeDocument/2006/relationships/notesSlide" Target="/ppt/notesSlides/notesSlide18.xml" Id="Rb0908b060a5d48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42a7ed1e241af" /><Relationship Type="http://schemas.openxmlformats.org/officeDocument/2006/relationships/notesSlide" Target="/ppt/notesSlides/notesSlide19.xml" Id="Rbb2b3a81b5e94d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e6a8e51294337" /><Relationship Type="http://schemas.openxmlformats.org/officeDocument/2006/relationships/notesSlide" Target="/ppt/notesSlides/notesSlide20.xml" Id="Rac6c7f6d676e4e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4724C-8F61-4EB8-B085-FC807F43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AGENT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63DCF-628D-4CFE-B784-AF109D3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239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Engineering Agent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59AD6-C05C-4677-8FC0-B242859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L1 metadata · L2 instructions · L3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2AFBA-81F8-4109-84C0-612899D5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81A"/>
                </a:solidFill>
                <a:latin typeface="Arial"/>
                <a:ea typeface="Arial"/>
                <a:cs typeface="Arial"/>
              </a:rPr>
              <a:t>Build agents that load the right context—only when it is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A7608-4ECD-4184-A500-A1D4154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3162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ED626-37F3-4997-874D-97A6E0D0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1430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5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L1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5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5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107C0-5B1E-4103-A6E5-94B609B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2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DISCOVER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2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INSTRUCT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2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E490C-63AC-4E5D-9B9F-EF02D41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794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9BE79-C46F-437F-B389-F23BB4B1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698B5-FE86-4921-BAFA-FC8AC43F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The problem is not too little context—it is too much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F7026-5096-4283-AA7B-0CF20AE0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7045F-B4F3-4EF6-9F31-4C5BC7C4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58625-C59E-4116-BC28-5793F052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 mega-prompt makes every capability compete on every turn.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DC9F1-8C16-4673-B94E-C632ADD4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723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Irrelevant policy consumes context and distracts routing.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Detailed instructions become hard to version and test.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Stale rules hide inside a monolithic prompt.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The agent cannot show which source actually supported its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07CCD-63AE-44A9-9D39-A78D81E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857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C2E8A-DD48-4F31-AAA1-74F56BDD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EVERYTHING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ALWAYS 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3D27F-75C2-47EA-A508-7864FA8B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4ACBC-D80C-4770-B78F-3209E7B8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RELIABLE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968204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543E5-B995-4A2D-B3F5-5790E603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B9B83-5566-45B4-A8B7-E149F4C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You will engineer disclosure—not merely write a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9D6DF-A795-4617-BC98-EEECC4C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DE8E-3685-4E72-9727-2AC6023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36B94-363B-47D1-B9B3-0E62FFE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2428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703F1-ED08-454D-ADD6-3E8BEE2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01  Distinguish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BC049-4CDC-433E-99C2-B802942C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242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Prompt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Skill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Resource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Tool and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398B-C8A1-489D-BD8E-8641E4B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2428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63A9A-0244-49BC-A5CD-B46259A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02 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134C3-3E9F-4828-9EA6-EF03C4A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242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Accurate L1 routing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Clear L2 procedure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Exact L3 paths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3AA8B-DC6B-4FBB-86C5-9B1C631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2428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6597B-C8D4-4A88-8969-E82B70E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03  Demonstrate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AAA33-1730-4843-B8C8-AABC7D20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242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Selective loading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Trace evidence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Deterministic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15739-56E6-4A15-9519-C0EB4FD2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428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0D122-7E01-403B-BBC3-12BD1E66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04  Evaluate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9FE9C-4707-4170-A9B0-3AC061D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242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Correctness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Grounding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Safe abstention</a:t>
            </a:r>
          </a:p>
        </p:txBody>
      </p:sp>
    </p:spTree>
    <p:extLst>
      <p:ext uri="{BB962C8B-B14F-4D97-AF65-F5344CB8AC3E}">
        <p14:creationId xmlns:p14="http://schemas.microsoft.com/office/powerpoint/2010/main" val="2009692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6E15FA-84A1-4344-AC3E-6E31D99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EBBBE-C57F-45B9-B8A5-2E1EB88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Five engineering objects have five distinct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61135-E78E-40CA-8CD1-0A30B34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C03E0-8114-4A8F-B15F-031EF15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AA61C-5D8D-4877-B906-3396436F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110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0790F-7392-47F3-9C97-C553CCF0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A101A-DF4B-4F53-B6C0-2DDA64C5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669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Primary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3F356-21CE-4E24-A3D0-C6D79F20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66925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Engineering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96887-4078-4139-9FC1-2B046485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32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D7487-5692-4CFC-A291-682B5B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F1749-7F4A-4E21-B4E4-4DB3FCED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Directs this agent or interaction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2BB48-D24C-4217-9BAB-028C3615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What should the model do now?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0F566-A479-4F65-AA66-FB89AD33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110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F23FF-D714-47AC-9303-936FABF9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1838F-0CEC-4B65-96D9-18E9BB9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B3D48-1DE8-4440-B0BE-FA8F2075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Packages reusable expertise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B14A1-36B8-411C-B3F4-5C514F1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What procedure should be activated?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1DA0F-8D6A-4C7E-8508-6BC085C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4A13B-71EF-4199-983F-5E827B6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FB0A0-1D4D-4FF4-A7DC-0CEB4603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148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Supplies deep detail on demand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7CF23-4B74-40C2-A30B-BABE0F8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What evidence or template is needed?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4732E-E6CD-45A8-9459-18A7E44A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110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7A914-0053-49D3-960F-5F63F81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19801-E5F7-4260-8EBA-1AD389F0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23A22-14AE-4EAF-9F7A-27F9D39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006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Performs an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5A138-B95A-4A24-973B-0A80F014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006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What can read, calculate, call, or change?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64262-3C79-44F1-9A3B-30842960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86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23DCA-E512-4B24-B63E-5FE777DD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FF631-4274-4664-9D6A-3D30D8B3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864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Coordinates stages and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3DD74-6AD7-45DD-8FBF-0EAF72E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864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How do steps and agents progress?</a:t>
            </a:r>
          </a:p>
        </p:txBody>
      </p:sp>
    </p:spTree>
    <p:extLst>
      <p:ext uri="{BB962C8B-B14F-4D97-AF65-F5344CB8AC3E}">
        <p14:creationId xmlns:p14="http://schemas.microsoft.com/office/powerpoint/2010/main" val="1805031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FD802-71FD-47E7-A908-E8B65C89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PROGRESSIVE DISCLOSURE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6BF00-C2FF-4311-AC27-98A120E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 skill reveals capability in three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D030-752E-499E-9406-DB3F3BBB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72ABF-5D30-4F8B-AC7E-08D4A295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97067-39C8-4FC7-919B-83991C6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242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8B6CB-9AA9-4407-909A-A5ABE96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242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F5C0D-5EEE-49F4-AB80-3D7792A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143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2A1E9-8197-400F-A980-D36D441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59EB5-1129-43E4-8828-1E5EAFC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894C3-4996-4C84-8451-BF2A0C31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Name +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2CD37-1B77-4BD1-8973-CCAD0D9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Should this skill load?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5F1A6-E349-45DA-B163-5043546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7EAC1-C1F2-457A-8656-C02319B9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48A99-92E1-4836-B779-5392B3D0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526BE-8B2E-4806-AD89-9B5A58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Full SKILL.md 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266CA-B9D8-4B6E-AE2D-8C8C7A69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386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How should the agent work?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5F7B5-1695-4776-9D3F-F913954E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143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D6A2C-12C4-46E4-95E2-A782FFE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5DA68-523A-4EF1-A600-55DE313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00382-26F9-46B8-9FAA-93E37301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References · assets · scripts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F740B-31DE-4FF1-A3D0-9D9BEBC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386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What detail is needed now?</a:t>
            </a:r>
          </a:p>
        </p:txBody>
      </p:sp>
    </p:spTree>
    <p:extLst>
      <p:ext uri="{BB962C8B-B14F-4D97-AF65-F5344CB8AC3E}">
        <p14:creationId xmlns:p14="http://schemas.microsoft.com/office/powerpoint/2010/main" val="957940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505B2-DF5D-4680-A99F-07CEDA9D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L1 — METADATA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5D285-E71A-435C-9017-ED84C97E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L1 answers one question: Is this skill relevant?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DDB5-FA91-4CDC-9E3C-444F46F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10BCC-7A2D-4FC3-B468-E46F38C5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0FA16-F7FA-43E9-A654-34CC82A7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895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0BBCB-3009-4C3E-8DAE-6466ECC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Strong L1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B4CE2-07CA-41B0-B6D8-AA6CB9A1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4895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Names the capability and trigger situations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Includes important exclusions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Uses language the user is likely to say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Avoids thresholds, procedures, and policy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AF931-D3FE-464A-8744-2CC6E250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81200"/>
            <a:ext cx="5638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7D0B8-C4B8-4779-BF8B-0C5ECBEC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B2FF3-D82C-4DD9-93AD-5010F7F7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991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Analyze enterprise renewals, including discount routing, timing, risk escalation, quote calculations, and approval-ready briefs.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7C56A-C52C-4E4C-B305-FA0F8216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No approval thresholds live here.</a:t>
            </a:r>
          </a:p>
        </p:txBody>
      </p:sp>
    </p:spTree>
    <p:extLst>
      <p:ext uri="{BB962C8B-B14F-4D97-AF65-F5344CB8AC3E}">
        <p14:creationId xmlns:p14="http://schemas.microsoft.com/office/powerpoint/2010/main" val="1830758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5BFA8-9E95-49ED-ADFF-56BC01D0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L2 — INSTRUCTIONS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2F8B8-63F5-4190-8B8A-7A69B3E9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L2 is the operating procedure and routing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DACBC-121A-4AD5-BB06-1EE75E9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CEF43-C4F3-401F-ACC5-59AE397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94312-DA08-4002-A920-F0EAAAF7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781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11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01  </a:t>
            </a: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When to use—and when not to use—the skill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1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02  </a:t>
            </a: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Required inputs and missing-input behavior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1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03  </a:t>
            </a: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Ordered procedure and decision points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1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04  </a:t>
            </a: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Exact map from intent to L3 path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1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05  </a:t>
            </a: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Output, citation, and quality requirements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1"/>
              </a:spcAft>
              <a:buNone/>
              <a:defRPr sz="1800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06  </a:t>
            </a:r>
            <a:r>
              <a:rPr sz="1800">
                <a:solidFill>
                  <a:srgbClr val="17181A"/>
                </a:solidFill>
                <a:latin typeface="Arial"/>
                <a:ea typeface="Arial"/>
                <a:cs typeface="Arial"/>
              </a:rPr>
              <a:t>Unsupported-question and missing-source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33349-29A7-4EC8-81B2-9462534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200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D07F7-5B78-4D8A-BAFB-7967CE0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L2 tells the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9A80A-BB2B-4429-9390-F3F7E9B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15D8A-19E0-44C9-9EB3-F447B4F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and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WHERE TO LOOK</a:t>
            </a:r>
          </a:p>
        </p:txBody>
      </p:sp>
    </p:spTree>
    <p:extLst>
      <p:ext uri="{BB962C8B-B14F-4D97-AF65-F5344CB8AC3E}">
        <p14:creationId xmlns:p14="http://schemas.microsoft.com/office/powerpoint/2010/main" val="343792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3AD75-5BA8-46BE-8DE5-091EA158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L3 —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C0DE6-4506-493A-8523-4C9DDF6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L3 provides grounded detail and deterministic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9A42F-C208-42CA-97E9-1695F06C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DEC52-FBB6-45BD-868F-68FB4A74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BBCE1-C5E4-4B75-99EA-A82DA1B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1E09-4779-4CFE-A3E0-5B7BFAC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690FA-8108-44DB-9450-773AB74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3276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Policies and detailed guidance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Loaded only for relevant questions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Example: discount-policy.md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87F2C-1F3E-4413-B2D5-8AE1EB9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D0BE4-E167-45C3-8E49-69CC6753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6C603-B2A7-4D0A-91EF-0EBEA97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76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Templates, schemas, and examples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Used to shape a requested artifact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Example: renewal-brief-template.md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32336-6C66-480E-A2B7-1BA78DC3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2838E-4EBE-4B8E-9B81-9ADBB84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C430F-3C00-430E-8C4E-CBF580B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276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Reviewed executable logic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Used when determinism matters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Example: calculate_quote.py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BFBB1-78D2-483F-9703-827C295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The best L3 file is the one the task actually needs—and no more.</a:t>
            </a:r>
          </a:p>
        </p:txBody>
      </p:sp>
    </p:spTree>
    <p:extLst>
      <p:ext uri="{BB962C8B-B14F-4D97-AF65-F5344CB8AC3E}">
        <p14:creationId xmlns:p14="http://schemas.microsoft.com/office/powerpoint/2010/main" val="1290626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E913E-4BDA-4AE1-8FED-9341446F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LAB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96D3-B2F1-4C8E-9419-BA36F95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Your mission: Build the WidgetWare Renewal Desk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53652-CAEE-4840-AC10-51AC7905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6DBA-FE03-4CE5-9A00-1589EBA5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82D4A-0284-402A-AB24-66C926D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Customer-success managers need policy-grounded help without carrying every commercial rule in every interaction.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8E065-A926-4FD5-8E19-33836E9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905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81A"/>
                </a:solidFill>
                <a:latin typeface="Arial"/>
                <a:ea typeface="Arial"/>
                <a:cs typeface="Arial"/>
              </a:rPr>
              <a:t>Route discount approvals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81A"/>
                </a:solidFill>
                <a:latin typeface="Arial"/>
                <a:ea typeface="Arial"/>
                <a:cs typeface="Arial"/>
              </a:rPr>
              <a:t>Apply renewal timing and process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81A"/>
                </a:solidFill>
                <a:latin typeface="Arial"/>
                <a:ea typeface="Arial"/>
                <a:cs typeface="Arial"/>
              </a:rPr>
              <a:t>Escalate churn, legal, and regulated-customer risk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81A"/>
                </a:solidFill>
                <a:latin typeface="Arial"/>
                <a:ea typeface="Arial"/>
                <a:cs typeface="Arial"/>
              </a:rPr>
              <a:t>Create approval-ready renewal briefs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81A"/>
                </a:solidFill>
                <a:latin typeface="Arial"/>
                <a:ea typeface="Arial"/>
                <a:cs typeface="Arial"/>
              </a:rPr>
              <a:t>Calculate quote values deterministically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6DA14-E4A5-43C7-8560-847E18AB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3718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26AB4-DA8E-4D76-91A5-DD7D591B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457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RENEWAL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1467-B72A-4838-8E05-F7523A0C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64BE-CFF7-46B3-A10C-33FD7DCA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2457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RIGHT SKILL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RIGHT RESOURCE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GROUNDED ACTION</a:t>
            </a:r>
          </a:p>
        </p:txBody>
      </p:sp>
    </p:spTree>
    <p:extLst>
      <p:ext uri="{BB962C8B-B14F-4D97-AF65-F5344CB8AC3E}">
        <p14:creationId xmlns:p14="http://schemas.microsoft.com/office/powerpoint/2010/main" val="868647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8A4D8-B5E3-45A8-A151-40FD4379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SKILL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C64D-D86D-41B1-A732-296C13B1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 skill package makes context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7595E-2BF7-4DA2-8ABF-ED4F28A3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C0404-6B8D-4519-A486-9A173A8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40614-AD52-4934-BE93-AECF09EA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6096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D63C4-53A7-4548-998B-632734C0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467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renewal-advisor/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├── SKILL.md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├── references/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│   ├── discount-policy.md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│   ├── renewal-process.md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│   └── risk-escalation.md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├── assets/renewal-brief-template.md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└── scripts/calculate_quote.py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0E5C7-96B4-46D0-9E04-B6FDC8B2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417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A6B8E-4CE1-42DA-9E03-D958BBF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What students 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3A70E-EE90-4E02-9FC7-BA8EC97B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41719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L1 description in frontmatter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L2 instructions in SKILL.md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Trace and evaluation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5BC5E-C221-4541-AB9A-3C0AD17F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0125"/>
            <a:ext cx="4171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detailed policy files remain source-controlled L3 evidence.</a:t>
            </a:r>
          </a:p>
        </p:txBody>
      </p:sp>
    </p:spTree>
    <p:extLst>
      <p:ext uri="{BB962C8B-B14F-4D97-AF65-F5344CB8AC3E}">
        <p14:creationId xmlns:p14="http://schemas.microsoft.com/office/powerpoint/2010/main" val="17226360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227EA-B74D-42EA-92CB-9E2EB4F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RESOURCE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B4D52-9D23-4310-B2E4-64F2FC4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Selective loading must be a deliberate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95317-F18D-463D-8CF1-3660895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6FDFD-D292-4793-9CD2-89D30104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BB76E-31A2-49E3-8071-42CB210F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0040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81086-40A9-4E02-92F7-33C3690F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F58EC-9FC3-43AE-AC41-6631275E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Classify the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94895-DB1E-4D14-919B-34C3EF2E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What decision or artifact is being requested?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3FB2A-B71D-42D8-8BFC-50F395C9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0040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90C1E-24C9-44FC-B28B-3CB45852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1FB3B-EAF3-477B-92A7-B58ECA30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Load the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8404B-6895-425A-9458-0B1B814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Read L2 before applying the procedure.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551B0-5722-4FF8-A7E5-71150AC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EF16D-BD56-414A-A2B6-B2765E64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62468-3AE0-4E66-87F9-E39F42A5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Choose minimum L3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B0E89-5AEC-49A4-B108-C8E053D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Map each sub-question to an exact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99279-4BC5-475A-970B-977D6252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DE02A-CC7E-4553-B035-2395A93F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Act and cite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F6F67-B61A-4EC8-B03E-0636F1EE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Run, answer, or abstain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F301E-87D0-4BC4-B325-9946A46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F1D18-2380-44E6-B315-A08AA878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Not loading an irrelevant resource is evidence of good architecture.</a:t>
            </a:r>
          </a:p>
        </p:txBody>
      </p:sp>
    </p:spTree>
    <p:extLst>
      <p:ext uri="{BB962C8B-B14F-4D97-AF65-F5344CB8AC3E}">
        <p14:creationId xmlns:p14="http://schemas.microsoft.com/office/powerpoint/2010/main" val="798701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A0B8E-A6C9-49AA-B26B-4091F0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LAB 1 — OBSERVE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C2E50-213B-4A78-8ACB-B334CEF1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Begin with a baseline before improving the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203C9-21D3-4415-921C-4B062BC5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BE87-C606-4897-BD7D-98488979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7A094-DFBD-432A-BAF0-1B5D8A6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4EAF1-8B20-4D57-941A-1E13290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2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2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adk web 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E36BD-111D-42E6-A813-B75F58F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20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B4D8D-234F-4B15-B819-E9A9F8E7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Observe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3C38E-1778-43E6-94D1-672B3E9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52006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Ask for available skill names and descriptions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Run a simple renewal-discount request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Inspect what appears at L1, L2, and L3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Record the starter skill’s weaknesses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10DDD-3751-43CD-B987-845AA334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The initial test failures are intentional—they define the learning gap.</a:t>
            </a:r>
          </a:p>
        </p:txBody>
      </p:sp>
    </p:spTree>
    <p:extLst>
      <p:ext uri="{BB962C8B-B14F-4D97-AF65-F5344CB8AC3E}">
        <p14:creationId xmlns:p14="http://schemas.microsoft.com/office/powerpoint/2010/main" val="362089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8F8C1-769B-45B4-A7F1-5485B886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LAB 2 — L1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DEED3-F925-49BA-865C-89EB1191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Engineer L1 for accurate selection—without policy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BFE87-5EE2-4697-BB35-3DB0646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EF173-BE1C-423A-AC32-7DD140C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6729E-3CE4-4051-AFE9-D91806A2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493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2A7BC-97A5-4C1F-B21E-C941895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493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L1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A711B-DEC0-4342-BE01-FE8C1CD4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49339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Capability + trigger situations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Relevant user language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Important exclusions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No approval thresholds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68E5C-EB69-4D6F-BF04-D0DEA55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WEAK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04E36-0D52-46D4-A393-96D68D53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Helps with renewals.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38F67-6998-49DD-9F40-B1C173D3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A5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8A59"/>
                </a:solidFill>
                <a:latin typeface="Arial"/>
                <a:ea typeface="Arial"/>
                <a:cs typeface="Arial"/>
              </a:rPr>
              <a:t>STRONGER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0ABEB-6D68-4345-9625-D996583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504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Routes renewal discounts, timing, risk escalation, quote calculations, and approval briefs; excludes product troubleshooting.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55892-AB0F-44A9-B89A-386B2DB2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Test both a positive and a negative trigger.</a:t>
            </a:r>
          </a:p>
        </p:txBody>
      </p:sp>
    </p:spTree>
    <p:extLst>
      <p:ext uri="{BB962C8B-B14F-4D97-AF65-F5344CB8AC3E}">
        <p14:creationId xmlns:p14="http://schemas.microsoft.com/office/powerpoint/2010/main" val="1287434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71969-70E2-4BE0-9005-9D069E27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LAB 3 — L2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F15E6-7DED-4153-AF38-5076EC2C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L2 must name every resource path exactly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B7F46-05F2-40BD-8CD1-95F5926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15B02-4006-4B72-A9E8-7BB797E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3A6D3-B8D2-471E-B8AA-24CA0842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110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129F8-08BA-4F55-A59B-148CCCAD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7BB76-47FE-4A69-A21E-3E0E4EA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Exact L3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617F2-3EE6-41C8-9DDA-36206604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3372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7C560-0836-4424-87A3-2CD6E1C0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Discount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92EAA-14D6-41C3-8FE5-610C1852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references/discount-policy.md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462E9-287B-4A7F-B759-04FA51A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110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6C263-9953-4246-85C8-25980A7E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861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E48AB-3133-4C61-9E3E-8983DC10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Renewal timing / auto-renewal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391AD-2C81-4A5C-8575-8261D75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references/renewal-process.md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9DD40-8FEE-4AC2-B5C2-900767B3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4F778-2BA9-495D-92D0-CC1F88D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Risk / security / unsupported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5DF4B-AB97-4D2B-BF09-9FB42481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7190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references/risk-escalation.md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0BCC7-699E-4986-99B5-F488E054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1110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365D0-CF99-4FEE-8229-DC15353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91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6F17B-846C-478E-9DC6-3AE23EF3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Approval-ready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2C9A7-A945-48A3-B3FE-E266213A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assets/renewal-brief-template.md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3757F-3CD7-4F6F-A6B4-1A097A3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4352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58581-C8B1-4DE1-8181-2DED9ED8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Dollar discount / net ARR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DE7B3-7F52-4A90-975B-0280E050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scripts/calculate_quote.py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F7494-26A9-4621-BBBC-4F4D469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Add procedure, input rules, citations, minimum loading, examples, and safe unsupported behavior around this routing map.</a:t>
            </a:r>
          </a:p>
        </p:txBody>
      </p:sp>
    </p:spTree>
    <p:extLst>
      <p:ext uri="{BB962C8B-B14F-4D97-AF65-F5344CB8AC3E}">
        <p14:creationId xmlns:p14="http://schemas.microsoft.com/office/powerpoint/2010/main" val="15407705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E944F-40BB-486C-B220-12B26332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LAB 4 — TRACE CASES A–C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BD17E-18F8-4751-97FD-BAFFBF20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Cases A–C test minimum and cross-resource loading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99CDD-6F1B-4006-BFE4-1F558D6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E4923-E211-4537-9C5C-CF3B07D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D4FA4-9269-4DAD-ACD3-FF2594C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1106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E6421-BC83-4893-A081-685AC67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47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93277-994A-4E4F-90E1-D60860F7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24075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3D350-F459-4EC7-8DA2-E9DF6D4C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2407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Expected L3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275D8-3DB4-4B5D-A26F-BA9476A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24075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C8A10-18F3-4BB4-ACCD-935E841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9092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C74EA-07E2-465F-9030-859AE49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83450-C72E-4D6A-848D-48A16117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12% discount on $92K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FDA09-626A-4F2B-B532-6FFA5403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discount policy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4DD87-0492-422F-8857-6611B75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Correct approval path + citation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0E996-D19D-42D6-A1C9-4A7B51C6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1106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24BEB-9C10-4E0F-85B4-D2A7AF4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19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43A37-4F7F-4A42-BD1A-6620B17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C2869-D9C9-44ED-A226-99F14DB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Renewal is 75 days away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73AB6-85AA-4A25-8BC0-429FE65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renewal process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C05A6-6105-4946-A5EC-B52A360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766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Correct milestone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EE74B-78CC-48A0-AB61-2D53C39C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302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7B02F-6EEB-45B3-92CD-4E41796F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CF558-E1B7-40B2-9AEA-EBA4E9B7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Regulated, high risk, 10 days, 18%, remove auto-renewal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A2FEC-74AF-44B8-92DC-6A718EE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all three 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6DD76-FD64-40F0-B8CE-FDB175D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Combined commercial, timing, and risk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CCB57-3383-4C60-B32B-1F0E6A7C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Predict the resources before running the prompt—then compare your prediction to the trace.</a:t>
            </a:r>
          </a:p>
        </p:txBody>
      </p:sp>
    </p:spTree>
    <p:extLst>
      <p:ext uri="{BB962C8B-B14F-4D97-AF65-F5344CB8AC3E}">
        <p14:creationId xmlns:p14="http://schemas.microsoft.com/office/powerpoint/2010/main" val="15189792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153E2-B1FC-4AEA-BC27-53C4DDA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LAB 4 — TRACE CASES D–F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AF979-EA45-4701-A052-975F2D9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The hard cases test assets, scripts, and safe abstention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BCD3-1104-420E-A1EF-A14FDE6D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7E261-CC15-4000-AA63-8660849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02696-B640-49DC-A5B9-706F28B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85136-3F61-49D8-ADFD-BD0713A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Official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7FA3E-2A80-418A-93FF-65B340D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Load template + required policy; mark missing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0AD58-1F52-4F51-99CD-A9EB205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FB710-8161-46B2-BC16-1D1A468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Deterministic math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5F8F2-EB24-42C9-BC7B-7C3D802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1950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Run calculator + load discount policy for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E9A49-8DC4-4192-B633-D2A2E00E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951BE-4DBF-45DC-A63C-BD98FB7A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Unsupported SOC 2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AF2CC-6F03-4DBF-A7CA-200FFE25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Do not invent; cite escalation to Legal + Reliability.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7078B-1648-44E2-96BE-B0343ED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8D1A4-2A27-4371-A4A6-9F808E6D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A grounded refusal is a successful result when the evidence boundary is reached.</a:t>
            </a:r>
          </a:p>
        </p:txBody>
      </p:sp>
    </p:spTree>
    <p:extLst>
      <p:ext uri="{BB962C8B-B14F-4D97-AF65-F5344CB8AC3E}">
        <p14:creationId xmlns:p14="http://schemas.microsoft.com/office/powerpoint/2010/main" val="620990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7823F-54F9-443D-8F5D-473CA902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5E62E-2C0E-4EF4-848C-86AC05E2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Read the trace as evidence of your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4A77-DFAA-4515-9095-3D354B6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74CA0-9343-43DD-9C75-7DC8DDB9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87AB-E715-48C2-BCDE-C7A0758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A1AA0-A6F6-4476-93A3-56ACB18F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62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list_skills /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529DF-6155-46FC-87D7-BABA4686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2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Was the correct capability discoverable?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F7E58-1A34-4C13-ADE0-766866C8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AE23F-9E03-4609-8E1A-B98C98A4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7DE2A-792E-4B2F-A586-6D7C321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load_skill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56B22-821A-4A95-895B-B2D0F934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Did the agent read the procedure before acting?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72D68-8B94-4566-A760-1C94BD1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2B19E-EC54-4452-94A7-A6CC91D6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1B79E-CFB8-4A12-82E1-7F0CC45D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242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load_skill_resource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7A92B-3364-4607-8206-E4E4CA0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242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Were only necessary files loaded?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F9F76-322C-4068-872B-3C622D99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5BD41-E9F4-4AFC-8CA9-19948831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93A55-73AA-4906-BA80-C5190D8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run_skill_script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CF642-52A3-4FEB-AB77-3EF73F9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Was deterministic execution used when required?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E18D3-142B-4143-97F3-151E403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50AFD-8846-4010-AA21-62A5BFD2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54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320CE-BCF1-46A6-B852-5305FD9D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863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181A"/>
                </a:solidFill>
                <a:latin typeface="Courier New"/>
                <a:ea typeface="Courier New"/>
                <a:cs typeface="Courier New"/>
              </a:rPr>
              <a:t>answer + citations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0D33A-1DC7-49C9-A7B0-AB58C4A2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86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Does every conclusion stay within evidence?</a:t>
            </a:r>
          </a:p>
        </p:txBody>
      </p:sp>
    </p:spTree>
    <p:extLst>
      <p:ext uri="{BB962C8B-B14F-4D97-AF65-F5344CB8AC3E}">
        <p14:creationId xmlns:p14="http://schemas.microsoft.com/office/powerpoint/2010/main" val="11898522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59FF0-568C-414C-8246-5DE9B64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COMMON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1103E-B792-4410-8C38-1267A4D3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Most skill failures are instruction-design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E2770-EED6-4117-822B-DED2069C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B17FF-78F3-42C9-8749-549BE35C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E2972-BF3F-4B62-AD91-F9975A30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059CA-58DE-4959-AD2A-10C36826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Policy leaked into L1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119B0-0263-4C75-8B26-A4E397B4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Permanent context defeats progressive disclosure.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6EA7E-7C0C-46F6-93FD-9D01861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507A3-C1D0-4F86-BABD-17265857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Vague resource names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53853-122D-4B13-BEC5-2F30955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agent guesses filenames or loops on missing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F0738-A3F2-4929-A953-D672E20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B1465-A4D7-4936-A67D-84D6DFFF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Load everything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9E740-9586-4825-8A56-3B26248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Correctness hides unnecessary context and interference.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D5151-72D5-4200-B67B-05A66CD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EE5F6-4B13-4280-B9D0-09FF829B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Model performs deterministic math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9BF0B-2434-4376-A8D4-C852BA21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Repeatability and testability are lost.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266F2-9454-4731-8BFE-A55E63D9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52E68-2C0F-46C0-A612-DF022E85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Requested becomes approved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95C16-B831-4C9A-9289-30C3E6F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answer invents commercial authority.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7148B-C9B2-467E-BDC8-2E22F85D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E34A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4A3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EE923-7FF7-4840-9F5A-69B9886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Unsupported claim is answered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9D1F16-DF0F-48A8-9211-955DB308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agent crosses its evidence boundary.</a:t>
            </a:r>
          </a:p>
        </p:txBody>
      </p:sp>
    </p:spTree>
    <p:extLst>
      <p:ext uri="{BB962C8B-B14F-4D97-AF65-F5344CB8AC3E}">
        <p14:creationId xmlns:p14="http://schemas.microsoft.com/office/powerpoint/2010/main" val="18834704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50B8C-21BE-4F27-8FD9-6736A1D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91DEB-49BF-4D4F-B386-F7D6B497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Evaluate both answer quality and context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D7B0C-CF3F-47A8-9BD1-79CF8FDC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A6B92-506B-4883-AC25-BB91736C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6BB54-9605-4736-99A6-A65B5C8D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5AAC9-62A5-44C0-85CE-E5E5A1EA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Five checks per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8348C-2162-4C5B-B254-13EE364A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Correct skill selection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Minimum resource loading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Factual correctness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Required path citation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B66"/>
                </a:solidFill>
                <a:latin typeface="Arial"/>
                <a:ea typeface="Arial"/>
                <a:cs typeface="Arial"/>
              </a:rPr>
              <a:t>Safe unsupported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B0E7E-DD91-4777-82F9-5E1DD44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4953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DBCA1-F7DA-48D5-BE33-3E1C911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3962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100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21993-79EB-4E42-88B9-0194582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3657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L1 metadata  15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L2 procedure  20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L3 routing  20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Grounding + safety  15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Script + asset use  10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Evidence + engineering quality  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FC550-453C-4467-B69E-987EA7E3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Fix SKILL.md when any evaluation case scores below 4/5.</a:t>
            </a:r>
          </a:p>
        </p:txBody>
      </p:sp>
    </p:spTree>
    <p:extLst>
      <p:ext uri="{BB962C8B-B14F-4D97-AF65-F5344CB8AC3E}">
        <p14:creationId xmlns:p14="http://schemas.microsoft.com/office/powerpoint/2010/main" val="5670968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3AE1C-A110-457C-ACE4-24075400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CB238-B80E-4306-BA01-954B11F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885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The skill determines how intelligence becomes reliable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D007-C20E-43A4-B306-0FD7C77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L1 discovers  →  L2 directs  →  L3 grounds and executes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BEEA-7F4F-4B38-AA42-56AE5C8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81A"/>
                </a:solidFill>
                <a:latin typeface="Arial"/>
                <a:ea typeface="Arial"/>
                <a:cs typeface="Arial"/>
              </a:rPr>
              <a:t>Submit the completed SKILL.md and SUBMISSION.md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81A"/>
                </a:solidFill>
                <a:latin typeface="Arial"/>
                <a:ea typeface="Arial"/>
                <a:cs typeface="Arial"/>
              </a:rPr>
              <a:t>Include traces for Cases A, C, E, and F</a:t>
            </a:r>
          </a:p>
          <a:p xmlns:a="http://schemas.openxmlformats.org/drawingml/2006/main">
            <a:pPr marL="24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81A"/>
                </a:solidFill>
                <a:latin typeface="Arial"/>
                <a:ea typeface="Arial"/>
                <a:cs typeface="Arial"/>
              </a:rPr>
              <a:t>Include pytest output and one clean Git commit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1F8CD-6EC0-4C1F-BB5E-26889343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66800"/>
            <a:ext cx="2038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1B6F9-7F2A-4097-A7D6-7EF9EC6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28750"/>
            <a:ext cx="16954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CAPABILITY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1718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81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DD5A0-3A16-40CC-B53E-4BDFDDC7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68022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2026-08-21T01:47:47.8080000Z</dcterms:created>
  <dcterms:modified xsi:type="dcterms:W3CDTF">2026-08-21T01:47:47.8080000Z</dcterms:modified>
</coreProperties>
</file>