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a4b7549a44bd6" /><Relationship Type="http://schemas.openxmlformats.org/officeDocument/2006/relationships/extended-properties" Target="/docProps/app.xml" Id="R51faf76fade14668" /><Relationship Type="http://schemas.openxmlformats.org/officeDocument/2006/relationships/officeDocument" Target="/ppt/presentation.xml" Id="R6381d46cb57f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868b9aa979459e"/>
  </p:sldMasterIdLst>
  <p:notesMasterIdLst>
    <p:notesMasterId xmlns:r="http://schemas.openxmlformats.org/officeDocument/2006/relationships" r:id="Re071840cbd3543d9"/>
  </p:notesMasterIdLst>
  <p:sldIdLst>
    <p:sldId xmlns:r="http://schemas.openxmlformats.org/officeDocument/2006/relationships" id="256" r:id="Re6a010159f3246e9"/>
    <p:sldId xmlns:r="http://schemas.openxmlformats.org/officeDocument/2006/relationships" id="257" r:id="Ra5e5e204ba544a68"/>
    <p:sldId xmlns:r="http://schemas.openxmlformats.org/officeDocument/2006/relationships" id="258" r:id="R95029333208c41c9"/>
    <p:sldId xmlns:r="http://schemas.openxmlformats.org/officeDocument/2006/relationships" id="259" r:id="R7cfc4b762db14195"/>
    <p:sldId xmlns:r="http://schemas.openxmlformats.org/officeDocument/2006/relationships" id="260" r:id="R208658803d29470d"/>
    <p:sldId xmlns:r="http://schemas.openxmlformats.org/officeDocument/2006/relationships" id="261" r:id="Rb431afcafe2148d8"/>
    <p:sldId xmlns:r="http://schemas.openxmlformats.org/officeDocument/2006/relationships" id="262" r:id="R43dd0cef7c774a15"/>
    <p:sldId xmlns:r="http://schemas.openxmlformats.org/officeDocument/2006/relationships" id="263" r:id="Rf3fcfa7b917a4464"/>
    <p:sldId xmlns:r="http://schemas.openxmlformats.org/officeDocument/2006/relationships" id="264" r:id="R1b46f6b941924d3f"/>
    <p:sldId xmlns:r="http://schemas.openxmlformats.org/officeDocument/2006/relationships" id="265" r:id="Re4e04c19639d4812"/>
    <p:sldId xmlns:r="http://schemas.openxmlformats.org/officeDocument/2006/relationships" id="266" r:id="R7ba1bbf8a11f43d6"/>
    <p:sldId xmlns:r="http://schemas.openxmlformats.org/officeDocument/2006/relationships" id="267" r:id="Radeaf2d6097a4b62"/>
    <p:sldId xmlns:r="http://schemas.openxmlformats.org/officeDocument/2006/relationships" id="268" r:id="Rc96f1278fd2a4353"/>
    <p:sldId xmlns:r="http://schemas.openxmlformats.org/officeDocument/2006/relationships" id="269" r:id="Rae87f024a886487e"/>
    <p:sldId xmlns:r="http://schemas.openxmlformats.org/officeDocument/2006/relationships" id="270" r:id="R4a1d6037f4f04f11"/>
    <p:sldId xmlns:r="http://schemas.openxmlformats.org/officeDocument/2006/relationships" id="271" r:id="Race110c973034dd4"/>
    <p:sldId xmlns:r="http://schemas.openxmlformats.org/officeDocument/2006/relationships" id="272" r:id="Rc38dc5ac998349ee"/>
    <p:sldId xmlns:r="http://schemas.openxmlformats.org/officeDocument/2006/relationships" id="273" r:id="R448b7bd115b9413f"/>
    <p:sldId xmlns:r="http://schemas.openxmlformats.org/officeDocument/2006/relationships" id="274" r:id="R72f76f8844e749a6"/>
    <p:sldId xmlns:r="http://schemas.openxmlformats.org/officeDocument/2006/relationships" id="275" r:id="R37771e6a0d04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a54f80e3074eb3" /><Relationship Type="http://schemas.openxmlformats.org/officeDocument/2006/relationships/slideMaster" Target="/ppt/slideMasters/slideMaster1.xml" Id="Rf4868b9aa979459e" /><Relationship Type="http://schemas.openxmlformats.org/officeDocument/2006/relationships/notesMaster" Target="/ppt/notesMasters/notesMaster1.xml" Id="Re071840cbd3543d9" /><Relationship Type="http://schemas.openxmlformats.org/officeDocument/2006/relationships/presProps" Target="/ppt/presProps.xml" Id="R2c20363934ac4732" /><Relationship Type="http://schemas.openxmlformats.org/officeDocument/2006/relationships/tableStyles" Target="/ppt/tableStyles.xml" Id="R853876feb18d4a73" /><Relationship Type="http://schemas.openxmlformats.org/officeDocument/2006/relationships/slide" Target="/ppt/slides/slide1.xml" Id="Re6a010159f3246e9" /><Relationship Type="http://schemas.openxmlformats.org/officeDocument/2006/relationships/slide" Target="/ppt/slides/slide2.xml" Id="Ra5e5e204ba544a68" /><Relationship Type="http://schemas.openxmlformats.org/officeDocument/2006/relationships/slide" Target="/ppt/slides/slide3.xml" Id="R95029333208c41c9" /><Relationship Type="http://schemas.openxmlformats.org/officeDocument/2006/relationships/slide" Target="/ppt/slides/slide4.xml" Id="R7cfc4b762db14195" /><Relationship Type="http://schemas.openxmlformats.org/officeDocument/2006/relationships/slide" Target="/ppt/slides/slide5.xml" Id="R208658803d29470d" /><Relationship Type="http://schemas.openxmlformats.org/officeDocument/2006/relationships/slide" Target="/ppt/slides/slide6.xml" Id="Rb431afcafe2148d8" /><Relationship Type="http://schemas.openxmlformats.org/officeDocument/2006/relationships/slide" Target="/ppt/slides/slide7.xml" Id="R43dd0cef7c774a15" /><Relationship Type="http://schemas.openxmlformats.org/officeDocument/2006/relationships/slide" Target="/ppt/slides/slide8.xml" Id="Rf3fcfa7b917a4464" /><Relationship Type="http://schemas.openxmlformats.org/officeDocument/2006/relationships/slide" Target="/ppt/slides/slide9.xml" Id="R1b46f6b941924d3f" /><Relationship Type="http://schemas.openxmlformats.org/officeDocument/2006/relationships/slide" Target="/ppt/slides/slide10.xml" Id="Re4e04c19639d4812" /><Relationship Type="http://schemas.openxmlformats.org/officeDocument/2006/relationships/slide" Target="/ppt/slides/slide11.xml" Id="R7ba1bbf8a11f43d6" /><Relationship Type="http://schemas.openxmlformats.org/officeDocument/2006/relationships/slide" Target="/ppt/slides/slide12.xml" Id="Radeaf2d6097a4b62" /><Relationship Type="http://schemas.openxmlformats.org/officeDocument/2006/relationships/slide" Target="/ppt/slides/slide13.xml" Id="Rc96f1278fd2a4353" /><Relationship Type="http://schemas.openxmlformats.org/officeDocument/2006/relationships/slide" Target="/ppt/slides/slide14.xml" Id="Rae87f024a886487e" /><Relationship Type="http://schemas.openxmlformats.org/officeDocument/2006/relationships/slide" Target="/ppt/slides/slide15.xml" Id="R4a1d6037f4f04f11" /><Relationship Type="http://schemas.openxmlformats.org/officeDocument/2006/relationships/slide" Target="/ppt/slides/slide16.xml" Id="Race110c973034dd4" /><Relationship Type="http://schemas.openxmlformats.org/officeDocument/2006/relationships/slide" Target="/ppt/slides/slide17.xml" Id="Rc38dc5ac998349ee" /><Relationship Type="http://schemas.openxmlformats.org/officeDocument/2006/relationships/slide" Target="/ppt/slides/slide18.xml" Id="R448b7bd115b9413f" /><Relationship Type="http://schemas.openxmlformats.org/officeDocument/2006/relationships/slide" Target="/ppt/slides/slide19.xml" Id="R72f76f8844e749a6" /><Relationship Type="http://schemas.openxmlformats.org/officeDocument/2006/relationships/slide" Target="/ppt/slides/slide20.xml" Id="R37771e6a0d04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0514bc277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a12a6076740cd" /><Relationship Type="http://schemas.openxmlformats.org/officeDocument/2006/relationships/notesMaster" Target="/ppt/notesMasters/notesMaster1.xml" Id="Rbe6313c031d945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c62d23c0e4803" /><Relationship Type="http://schemas.openxmlformats.org/officeDocument/2006/relationships/notesMaster" Target="/ppt/notesMasters/notesMaster1.xml" Id="Rb64cb53ac2694e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860bbc7f5498c" /><Relationship Type="http://schemas.openxmlformats.org/officeDocument/2006/relationships/notesMaster" Target="/ppt/notesMasters/notesMaster1.xml" Id="R882ec420404c44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0a4ae7d154cb7" /><Relationship Type="http://schemas.openxmlformats.org/officeDocument/2006/relationships/notesMaster" Target="/ppt/notesMasters/notesMaster1.xml" Id="Rbd85c2ff1626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0886ae3bb4093" /><Relationship Type="http://schemas.openxmlformats.org/officeDocument/2006/relationships/notesMaster" Target="/ppt/notesMasters/notesMaster1.xml" Id="R8a14f21421d840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89e1f0a4b485f" /><Relationship Type="http://schemas.openxmlformats.org/officeDocument/2006/relationships/notesMaster" Target="/ppt/notesMasters/notesMaster1.xml" Id="R5568a610595a4a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dd70c9b5d4b4c" /><Relationship Type="http://schemas.openxmlformats.org/officeDocument/2006/relationships/notesMaster" Target="/ppt/notesMasters/notesMaster1.xml" Id="Rf5610a8881ec4a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6036461b2f40ec" /><Relationship Type="http://schemas.openxmlformats.org/officeDocument/2006/relationships/notesMaster" Target="/ppt/notesMasters/notesMaster1.xml" Id="Rfbfea362668d42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339f7c4c734d02" /><Relationship Type="http://schemas.openxmlformats.org/officeDocument/2006/relationships/notesMaster" Target="/ppt/notesMasters/notesMaster1.xml" Id="Re665c4cac3e6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d0eb11a29c45f4" /><Relationship Type="http://schemas.openxmlformats.org/officeDocument/2006/relationships/notesMaster" Target="/ppt/notesMasters/notesMaster1.xml" Id="Rb0284526f4aa41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8ee9fc83844a13" /><Relationship Type="http://schemas.openxmlformats.org/officeDocument/2006/relationships/notesMaster" Target="/ppt/notesMasters/notesMaster1.xml" Id="R5fa79e6cdfcf41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8e8e5893ef4ed3" /><Relationship Type="http://schemas.openxmlformats.org/officeDocument/2006/relationships/notesMaster" Target="/ppt/notesMasters/notesMaster1.xml" Id="R3f9139fd4dbc45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3b221c970549eb" /><Relationship Type="http://schemas.openxmlformats.org/officeDocument/2006/relationships/notesMaster" Target="/ppt/notesMasters/notesMaster1.xml" Id="R822461ece4e145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aa62072fce49da" /><Relationship Type="http://schemas.openxmlformats.org/officeDocument/2006/relationships/notesMaster" Target="/ppt/notesMasters/notesMaster1.xml" Id="Rf969a77deed640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bc112563fd4043" /><Relationship Type="http://schemas.openxmlformats.org/officeDocument/2006/relationships/notesMaster" Target="/ppt/notesMasters/notesMaster1.xml" Id="R52280eb3f8e14f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db0d29b7f3488c" /><Relationship Type="http://schemas.openxmlformats.org/officeDocument/2006/relationships/notesMaster" Target="/ppt/notesMasters/notesMaster1.xml" Id="R78a270cee16643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758b2f84654319" /><Relationship Type="http://schemas.openxmlformats.org/officeDocument/2006/relationships/notesMaster" Target="/ppt/notesMasters/notesMaster1.xml" Id="Rb08f0033ea8047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a771abf9b34f5a" /><Relationship Type="http://schemas.openxmlformats.org/officeDocument/2006/relationships/notesMaster" Target="/ppt/notesMasters/notesMaster1.xml" Id="R66db470acc3f45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0cda541bc8421c" /><Relationship Type="http://schemas.openxmlformats.org/officeDocument/2006/relationships/notesMaster" Target="/ppt/notesMasters/notesMaster1.xml" Id="Rb14d3a218cf949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5de56fda8a4658" /><Relationship Type="http://schemas.openxmlformats.org/officeDocument/2006/relationships/notesMaster" Target="/ppt/notesMasters/notesMaster1.xml" Id="R83ee37621c2041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Today we make an agent execution inspectable before we try to make it impressive.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class uses OpenTelemetry concepts through the telemetry already exposed by Google Cloud and ADK.</a:t>
            </a:r>
          </a:p>
          <a:p xmlns:a="http://schemas.openxmlformats.org/drawingml/2006/main">
            <a:r>
              <a:t>- There is no Jaeger, standalone collector, or second observability backend in this lab.</a:t>
            </a:r>
          </a:p>
          <a:p xmlns:a="http://schemas.openxmlformats.org/drawingml/2006/main">
            <a:r>
              <a:t>- The live path sends native ADK spans directly to Google Cloud Trace.</a:t>
            </a:r>
          </a:p>
          <a:p xmlns:a="http://schemas.openxmlformats.org/drawingml/2006/main">
            <a:r>
              <a:t>- A small plugin records ADK events to JSONL so students can inspect the event stream itself.</a:t>
            </a:r>
          </a:p>
          <a:p xmlns:a="http://schemas.openxmlformats.org/drawingml/2006/main">
            <a:r>
              <a:t>- Playback is for human understanding; replay reconstructs trace evidence without rerunning the model or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By the end, students can move from a final answer to the execution story behind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final answer is evidence of output, not evidence of correct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Agent systems contain hidden decisions: routing, model calls, tool calls, retries, and policy checks.</a:t>
            </a:r>
          </a:p>
          <a:p xmlns:a="http://schemas.openxmlformats.org/drawingml/2006/main">
            <a:r>
              <a:t>- Without traces, a team sees only the answer and perhaps an error message.</a:t>
            </a:r>
          </a:p>
          <a:p xmlns:a="http://schemas.openxmlformats.org/drawingml/2006/main">
            <a:r>
              <a:t>- A trace groups the end-to-end request; spans show the timed operations inside it.</a:t>
            </a:r>
          </a:p>
          <a:p xmlns:a="http://schemas.openxmlformats.org/drawingml/2006/main">
            <a:r>
              <a:t>- The parent-child hierarchy explains which operation caused the next one.</a:t>
            </a:r>
          </a:p>
          <a:p xmlns:a="http://schemas.openxmlformats.org/drawingml/2006/main">
            <a:r>
              <a:t>- Latency and failure attributes make performance and reliability questions answerable.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teaching goal is to replace guesswork with a navigable execution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This lab turns one agent run into evidence we can revisit without spending another model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Run executes the multi-agent workflow and emits native OpenTelemetry spans.</a:t>
            </a:r>
          </a:p>
          <a:p xmlns:a="http://schemas.openxmlformats.org/drawingml/2006/main">
            <a:r>
              <a:t>- Record captures ADK events as newline-delimited JSON.</a:t>
            </a:r>
          </a:p>
          <a:p xmlns:a="http://schemas.openxmlformats.org/drawingml/2006/main">
            <a:r>
              <a:t>- Show and play are local teaching tools for reading the event sequence.</a:t>
            </a:r>
          </a:p>
          <a:p xmlns:a="http://schemas.openxmlformats.org/drawingml/2006/main">
            <a:r>
              <a:t>- Replay converts the stored sequence into a new trace in Google Cloud Trace.</a:t>
            </a:r>
          </a:p>
          <a:p xmlns:a="http://schemas.openxmlformats.org/drawingml/2006/main">
            <a:r>
              <a:t>- The replay path deliberately performs no Gemini request and no tool invocation.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Separate the expensive execution from the repeatable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https://adk.dev/plugins/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OpenTelemetry becomes practical when students distinguish the level of evidence they are looking 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 log is an application message and may not have execution context.</a:t>
            </a:r>
          </a:p>
          <a:p xmlns:a="http://schemas.openxmlformats.org/drawingml/2006/main">
            <a:r>
              <a:t>- An event is a timestamped occurrence; in ADK it can also be the unit of agent interaction.</a:t>
            </a:r>
          </a:p>
          <a:p xmlns:a="http://schemas.openxmlformats.org/drawingml/2006/main">
            <a:r>
              <a:t>- A span represents a timed operation such as a model call or tool execution.</a:t>
            </a:r>
          </a:p>
          <a:p xmlns:a="http://schemas.openxmlformats.org/drawingml/2006/main">
            <a:r>
              <a:t>- A trace connects related spans for one end-to-end request.</a:t>
            </a:r>
          </a:p>
          <a:p xmlns:a="http://schemas.openxmlformats.org/drawingml/2006/main">
            <a:r>
              <a:t>- A session connects multiple interactions over a longer-lived conversation.</a:t>
            </a:r>
          </a:p>
          <a:p xmlns:a="http://schemas.openxmlformats.org/drawingml/2006/main">
            <a:r>
              <a:t>- The same event can be recorded locally and also attached as an event to the current span.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Ask the question first, then choose the telemetry level that can answer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https://opentelemetry.io/docs/concepts/signals/traces/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first payoff is that ADK already provides meaningful execution spans—we do not have to invent the hierarchy.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root invoke_agent span represents the end-to-end request.</a:t>
            </a:r>
          </a:p>
          <a:p xmlns:a="http://schemas.openxmlformats.org/drawingml/2006/main">
            <a:r>
              <a:t>- invoke_workflow captures orchestration around the participating agents.</a:t>
            </a:r>
          </a:p>
          <a:p xmlns:a="http://schemas.openxmlformats.org/drawingml/2006/main">
            <a:r>
              <a:t>- generate_content measures the model request and response boundary.</a:t>
            </a:r>
          </a:p>
          <a:p xmlns:a="http://schemas.openxmlformats.org/drawingml/2006/main">
            <a:r>
              <a:t>- execute_tool measures a tool invocation and its outcome.</a:t>
            </a:r>
          </a:p>
          <a:p xmlns:a="http://schemas.openxmlformats.org/drawingml/2006/main">
            <a:r>
              <a:t>- Nested timing lets us identify whether latency came from orchestration, the model, or a tool.</a:t>
            </a:r>
          </a:p>
          <a:p xmlns:a="http://schemas.openxmlformats.org/drawingml/2006/main">
            <a:r>
              <a:t>- Span status and attributes provide the diagnostic details needed for filtering and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Start with native semantic spans; add custom telemetry only where it adds a missing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Students will see the word event in two APIs, so we make the distinction explicit before writing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An ADK Event is a first-class unit in the agent runtime and can include content, author, actions, and identifiers.</a:t>
            </a:r>
          </a:p>
          <a:p xmlns:a="http://schemas.openxmlformats.org/drawingml/2006/main">
            <a:r>
              <a:t>- The plugin callback receives the ADK Event after the agent has produced it.</a:t>
            </a:r>
          </a:p>
          <a:p xmlns:a="http://schemas.openxmlformats.org/drawingml/2006/main">
            <a:r>
              <a:t>- A JSONL record is a selected, serializable view of that ADK Event.</a:t>
            </a:r>
          </a:p>
          <a:p xmlns:a="http://schemas.openxmlformats.org/drawingml/2006/main">
            <a:r>
              <a:t>- An OpenTelemetry span event is a timestamped annotation attached to a span.</a:t>
            </a:r>
          </a:p>
          <a:p xmlns:a="http://schemas.openxmlformats.org/drawingml/2006/main">
            <a:r>
              <a:t>- The lab bridges them by adding a concise span event while also persisting the fuller JSON record.</a:t>
            </a:r>
          </a:p>
          <a:p xmlns:a="http://schemas.openxmlformats.org/drawingml/2006/main">
            <a:r>
              <a:t>- The two representations serve different readers: runtime playback and trace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Record the ADK event, then attach the diagnostic summary to the current span.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https://adk.dev/events/</a:t>
            </a:r>
          </a:p>
          <a:p xmlns:a="http://schemas.openxmlformats.org/drawingml/2006/main">
            <a:r>
              <a:t>- https://opentelemetry.io/docs/concepts/signals/traces/#span-events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architecture has one observability destination: Google Cloud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ADK web command enables direct export of native spans to Cloud Trace.</a:t>
            </a:r>
          </a:p>
          <a:p xmlns:a="http://schemas.openxmlformats.org/drawingml/2006/main">
            <a:r>
              <a:t>- The event plugin sits inside the same agent runtime and writes a local JSONL teaching artifact.</a:t>
            </a:r>
          </a:p>
          <a:p xmlns:a="http://schemas.openxmlformats.org/drawingml/2006/main">
            <a:r>
              <a:t>- JSONL is not a telemetry backend; it is a portable event recording.</a:t>
            </a:r>
          </a:p>
          <a:p xmlns:a="http://schemas.openxmlformats.org/drawingml/2006/main">
            <a:r>
              <a:t>- The replay script reads that file and starts a fresh trace with reconstructed spans.</a:t>
            </a:r>
          </a:p>
          <a:p xmlns:a="http://schemas.openxmlformats.org/drawingml/2006/main">
            <a:r>
              <a:t>- Both live and replay traces are viewable through the same Google Cloud interface.</a:t>
            </a:r>
          </a:p>
          <a:p xmlns:a="http://schemas.openxmlformats.org/drawingml/2006/main">
            <a:r>
              <a:t>- Service names distinguish the original execution from the reconstruction.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One backend keeps the lab focused; the file provides repeatability without another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- https://cloud.google.com/trace/docs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lab keeps instrumentation adjacent to the agent rather than mixing it into every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agent.py remains the place where agent behavior and orchestration are defined.</a:t>
            </a:r>
          </a:p>
          <a:p xmlns:a="http://schemas.openxmlformats.org/drawingml/2006/main">
            <a:r>
              <a:t>- telemetry_plugin.py owns event selection, persistence, and the span annotation.</a:t>
            </a:r>
          </a:p>
          <a:p xmlns:a="http://schemas.openxmlformats.org/drawingml/2006/main">
            <a:r>
              <a:t>- events.jsonl is append-only and easy to inspect with standard tools.</a:t>
            </a:r>
          </a:p>
          <a:p xmlns:a="http://schemas.openxmlformats.org/drawingml/2006/main">
            <a:r>
              <a:t>- show_events.py favors concise summaries for quick validation.</a:t>
            </a:r>
          </a:p>
          <a:p xmlns:a="http://schemas.openxmlformats.org/drawingml/2006/main">
            <a:r>
              <a:t>- play_events.py introduces timing so the sequence can be narrated in class.</a:t>
            </a:r>
          </a:p>
          <a:p xmlns:a="http://schemas.openxmlformats.org/drawingml/2006/main">
            <a:r>
              <a:t>- replay_events.py focuses only on rebuilding trace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Keep instrumentation modular enough that students can see the agent and the evidence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https://adk.dev/plugins/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good lab gives students four independent ways to know which layer is working.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ADK Web proves the agent can receive a prompt and return a response.</a:t>
            </a:r>
          </a:p>
          <a:p xmlns:a="http://schemas.openxmlformats.org/drawingml/2006/main">
            <a:r>
              <a:t>- The terminal proves the app started with Cloud Trace export enabled and surfaces runtime problems.</a:t>
            </a:r>
          </a:p>
          <a:p xmlns:a="http://schemas.openxmlformats.org/drawingml/2006/main">
            <a:r>
              <a:t>- The JSONL file proves the event callback captured ordered runtime evidence.</a:t>
            </a:r>
          </a:p>
          <a:p xmlns:a="http://schemas.openxmlformats.org/drawingml/2006/main">
            <a:r>
              <a:t>- Cloud Trace proves authentication, API enablement, IAM, and span export all succeeded.</a:t>
            </a:r>
          </a:p>
          <a:p xmlns:a="http://schemas.openxmlformats.org/drawingml/2006/main">
            <a:r>
              <a:t>- If one surface fails, the other three narrow the search instead of leaving a single mystery.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Debug the layer whose evidence is missing, not the whole system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Most missing-trace problems are destination setup problems, so we verify Google Cloud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active project determines where traces are written and later searched.</a:t>
            </a:r>
          </a:p>
          <a:p xmlns:a="http://schemas.openxmlformats.org/drawingml/2006/main">
            <a:r>
              <a:t>- Application Default Credentials provide local code with Google Cloud credentials.</a:t>
            </a:r>
          </a:p>
          <a:p xmlns:a="http://schemas.openxmlformats.org/drawingml/2006/main">
            <a:r>
              <a:t>- The Cloud Trace API must be enabled for the selected project.</a:t>
            </a:r>
          </a:p>
          <a:p xmlns:a="http://schemas.openxmlformats.org/drawingml/2006/main">
            <a:r>
              <a:t>- A workload that writes spans typically needs the Cloud Trace Agent role.</a:t>
            </a:r>
          </a:p>
          <a:p xmlns:a="http://schemas.openxmlformats.org/drawingml/2006/main">
            <a:r>
              <a:t>- A human inspecting traces needs permissions included in the Cloud Trace User role or an equivalent custom role.</a:t>
            </a:r>
          </a:p>
          <a:p xmlns:a="http://schemas.openxmlformats.org/drawingml/2006/main">
            <a:r>
              <a:t>- Corporate environments may provision these centrally; students should not attempt to bypass policy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Verify project, credentials, API, and IAM before changing agent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https://cloud.google.com/trace/docs/setup</a:t>
            </a:r>
          </a:p>
          <a:p xmlns:a="http://schemas.openxmlformats.org/drawingml/2006/main">
            <a:r>
              <a:t>- https://cloud.google.com/trace/docs/iam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model can work perfectly while telemetry silently fails because the two paths authenticate differently.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Gemini Developer API commonly uses an API key for the model request.</a:t>
            </a:r>
          </a:p>
          <a:p xmlns:a="http://schemas.openxmlformats.org/drawingml/2006/main">
            <a:r>
              <a:t>- Vertex AI uses Google Cloud credentials and project configuration for the model request.</a:t>
            </a:r>
          </a:p>
          <a:p xmlns:a="http://schemas.openxmlformats.org/drawingml/2006/main">
            <a:r>
              <a:t>- Cloud Trace export uses Google Application Default Credentials and Cloud IAM.</a:t>
            </a:r>
          </a:p>
          <a:p xmlns:a="http://schemas.openxmlformats.org/drawingml/2006/main">
            <a:r>
              <a:t>- The paths can share Google credentials when using Vertex AI, but they remain separate permissions and APIs.</a:t>
            </a:r>
          </a:p>
          <a:p xmlns:a="http://schemas.openxmlformats.org/drawingml/2006/main">
            <a:r>
              <a:t>- Test the agent response and trace visibility as two distinct acceptance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working answer proves model access; a visible trace proves telemetry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- https://cloud.google.com/docs/authentication/provide-credentials-adc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plugin is a cross-cutting observer, so every participating agent can be recorded consistently.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ADK invokes the event callback as events move through the runtime.</a:t>
            </a:r>
          </a:p>
          <a:p xmlns:a="http://schemas.openxmlformats.org/drawingml/2006/main">
            <a:r>
              <a:t>- The callback receives the event and should avoid expensive blocking work.</a:t>
            </a:r>
          </a:p>
          <a:p xmlns:a="http://schemas.openxmlformats.org/drawingml/2006/main">
            <a:r>
              <a:t>- The serializer keeps only fields needed for teaching and reconstruction.</a:t>
            </a:r>
          </a:p>
          <a:p xmlns:a="http://schemas.openxmlformats.org/drawingml/2006/main">
            <a:r>
              <a:t>- The writer appends one JSON object per line, preserving order and supporting streaming reads.</a:t>
            </a:r>
          </a:p>
          <a:p xmlns:a="http://schemas.openxmlformats.org/drawingml/2006/main">
            <a:r>
              <a:t>- The callback can also annotate the current OpenTelemetry span with a concise event summary.</a:t>
            </a:r>
          </a:p>
          <a:p xmlns:a="http://schemas.openxmlformats.org/drawingml/2006/main">
            <a:r>
              <a:t>- Instrumentation should not mutate the event or influence routing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plugin centralizes observation while leaving the agent’s behavior intact.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https://adk.dev/plugins/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coding exercise has three purposeful changes, each with a clear failure mode and visible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TODO 2A transforms the ADK Event into a stable dictionary that JSON can serialize.</a:t>
            </a:r>
          </a:p>
          <a:p xmlns:a="http://schemas.openxmlformats.org/drawingml/2006/main">
            <a:r>
              <a:t>- Students should include identifiers, author, timestamp, content summary, and action metadata only when useful.</a:t>
            </a:r>
          </a:p>
          <a:p xmlns:a="http://schemas.openxmlformats.org/drawingml/2006/main">
            <a:r>
              <a:t>- TODO 2B creates the recording directory and appends exactly one line per event.</a:t>
            </a:r>
          </a:p>
          <a:p xmlns:a="http://schemas.openxmlformats.org/drawingml/2006/main">
            <a:r>
              <a:t>- Append mode supports long-running sessions and avoids rewriting the file on every callback.</a:t>
            </a:r>
          </a:p>
          <a:p xmlns:a="http://schemas.openxmlformats.org/drawingml/2006/main">
            <a:r>
              <a:t>- TODO 2C gets the current span and adds an event annotation with low-cardinality attributes.</a:t>
            </a:r>
          </a:p>
          <a:p xmlns:a="http://schemas.openxmlformats.org/drawingml/2006/main">
            <a:r>
              <a:t>- Each step can be checked independently through the file or the Cloud Trace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Teach instrumentation as three contracts: select, persist, and correlate.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https://adk.dev/plugins/</a:t>
            </a:r>
          </a:p>
          <a:p xmlns:a="http://schemas.openxmlformats.org/drawingml/2006/main">
            <a:r>
              <a:t>- https://opentelemetry.io/docs/languages/python/instrumentation/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live path is intentionally one command: ADK emits and exports its native traces to Google Cloud.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Run the command from the directory that contains the agent package.</a:t>
            </a:r>
          </a:p>
          <a:p xmlns:a="http://schemas.openxmlformats.org/drawingml/2006/main">
            <a:r>
              <a:t>- The otel_to_cloud switch configures ADK telemetry for Google Cloud export.</a:t>
            </a:r>
          </a:p>
          <a:p xmlns:a="http://schemas.openxmlformats.org/drawingml/2006/main">
            <a:r>
              <a:t>- The port and reload flags support a predictable classroom development loop.</a:t>
            </a:r>
          </a:p>
          <a:p xmlns:a="http://schemas.openxmlformats.org/drawingml/2006/main">
            <a:r>
              <a:t>- After one prompt, students should look for the service name class-02b-adk in Cloud Trace.</a:t>
            </a:r>
          </a:p>
          <a:p xmlns:a="http://schemas.openxmlformats.org/drawingml/2006/main">
            <a:r>
              <a:t>- The expected trace contains the agent, workflow, model, and tool span hierarchy.</a:t>
            </a:r>
          </a:p>
          <a:p xmlns:a="http://schemas.openxmlformats.org/drawingml/2006/main">
            <a:r>
              <a:t>- Export can be asynchronous, so allow a short interval before assuming the trace is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One prompt should produce both an answer and a traceable execution waterfall.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Playback converts the recorded event stream into a paced narrative the room can follow.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script reads records in their original order.</a:t>
            </a:r>
          </a:p>
          <a:p xmlns:a="http://schemas.openxmlformats.org/drawingml/2006/main">
            <a:r>
              <a:t>- It prints a concise summary instead of dumping every field.</a:t>
            </a:r>
          </a:p>
          <a:p xmlns:a="http://schemas.openxmlformats.org/drawingml/2006/main">
            <a:r>
              <a:t>- Relative timestamps preserve the rhythm of the original execution.</a:t>
            </a:r>
          </a:p>
          <a:p xmlns:a="http://schemas.openxmlformats.org/drawingml/2006/main">
            <a:r>
              <a:t>- A speed option can compress long gaps while retaining sequence.</a:t>
            </a:r>
          </a:p>
          <a:p xmlns:a="http://schemas.openxmlformats.org/drawingml/2006/main">
            <a:r>
              <a:t>- Playback does not call the model, invoke tools, or create a new agent response.</a:t>
            </a:r>
          </a:p>
          <a:p xmlns:a="http://schemas.openxmlformats.org/drawingml/2006/main">
            <a:r>
              <a:t>- Use it to ask students where a handoff, tool call, or unexpected delay occurred.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Playback makes event order teachable without changing the recorded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https://jsonlines.org/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Replay is a reconstruction of telemetry, not a re-execution of the agent.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input is the JSONL recording created during the original run.</a:t>
            </a:r>
          </a:p>
          <a:p xmlns:a="http://schemas.openxmlformats.org/drawingml/2006/main">
            <a:r>
              <a:t>- The script maps recorded boundaries and timestamps to OpenTelemetry spans.</a:t>
            </a:r>
          </a:p>
          <a:p xmlns:a="http://schemas.openxmlformats.org/drawingml/2006/main">
            <a:r>
              <a:t>- It assigns a fresh trace ID because this is a new export operation.</a:t>
            </a:r>
          </a:p>
          <a:p xmlns:a="http://schemas.openxmlformats.org/drawingml/2006/main">
            <a:r>
              <a:t>- Recorded identifiers and ordering can be retained as attributes for comparison.</a:t>
            </a:r>
          </a:p>
          <a:p xmlns:a="http://schemas.openxmlformats.org/drawingml/2006/main">
            <a:r>
              <a:t>- No model or tool is called, which keeps replay deterministic and inexpensive.</a:t>
            </a:r>
          </a:p>
          <a:p xmlns:a="http://schemas.openxmlformats.org/drawingml/2006/main">
            <a:r>
              <a:t>- A distinct service name makes reconstructed traces easy to filter from live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Replay answers ‘what did we record?’—not ‘what would the agent do now?’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https://opentelemetry.io/docs/languages/python/instrumentation/</a:t>
            </a:r>
          </a:p>
          <a:p xmlns:a="http://schemas.openxmlformats.org/drawingml/2006/main">
            <a:r>
              <a:t>- https://cloud.google.com/trace/docs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A replayed trace is useful when it preserves the story, even though it cannot reproduce the original clock exactly.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The original trace contains runtime-measured durations and the actual trace identifier.</a:t>
            </a:r>
          </a:p>
          <a:p xmlns:a="http://schemas.openxmlformats.org/drawingml/2006/main">
            <a:r>
              <a:t>- The replay receives a new trace identifier from the OpenTelemetry SDK.</a:t>
            </a:r>
          </a:p>
          <a:p xmlns:a="http://schemas.openxmlformats.org/drawingml/2006/main">
            <a:r>
              <a:t>- Relative event timing can approximate the original sequence and spacing.</a:t>
            </a:r>
          </a:p>
          <a:p xmlns:a="http://schemas.openxmlformats.org/drawingml/2006/main">
            <a:r>
              <a:t>- The hierarchy and selected attributes should remain comparable across the two services.</a:t>
            </a:r>
          </a:p>
          <a:p xmlns:a="http://schemas.openxmlformats.org/drawingml/2006/main">
            <a:r>
              <a:t>- Small duration differences are expected and should not be treated as replay defects.</a:t>
            </a:r>
          </a:p>
          <a:p xmlns:a="http://schemas.openxmlformats.org/drawingml/2006/main">
            <a:r>
              <a:t>- Compare semantic structure and recorded facts rather than byte-for-byte equality.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 faithful reconstruction preserves meaning, not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https://opentelemetry.io/docs/concepts/signals/traces/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Observability data leaves the process and may be retained, searched, and shared, so content choices are security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Capture the minimum attributes needed to answer operational questions.</a:t>
            </a:r>
          </a:p>
          <a:p xmlns:a="http://schemas.openxmlformats.org/drawingml/2006/main">
            <a:r>
              <a:t>- Do not export secrets, credentials, or authorization headers.</a:t>
            </a:r>
          </a:p>
          <a:p xmlns:a="http://schemas.openxmlformats.org/drawingml/2006/main">
            <a:r>
              <a:t>- Treat prompts, responses, and tool payloads as potentially sensitive user content.</a:t>
            </a:r>
          </a:p>
          <a:p xmlns:a="http://schemas.openxmlformats.org/drawingml/2006/main">
            <a:r>
              <a:t>- Prefer allowlists, redacted summaries, counts, types, and stable identifiers.</a:t>
            </a:r>
          </a:p>
          <a:p xmlns:a="http://schemas.openxmlformats.org/drawingml/2006/main">
            <a:r>
              <a:t>- Avoid high-cardinality attributes that create cost and make aggregation harder.</a:t>
            </a:r>
          </a:p>
          <a:p xmlns:a="http://schemas.openxmlformats.org/drawingml/2006/main">
            <a:r>
              <a:t>- Use sampling and access controls for deeper debugging data when policy permits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Instrumentation is production data design, not just debugging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https://opentelemetry.io/docs/security/</a:t>
            </a:r>
          </a:p>
          <a:p xmlns:a="http://schemas.openxmlformats.org/drawingml/2006/main">
            <a:r>
              <a:t>- https://cloud.google.com/trace/docs/trace-data-retention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Troubleshooting gets faster when we ask which evidence exists and stop changing unrelated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No answer points first to model credentials, dependencies, imports, or the agent startup path.</a:t>
            </a:r>
          </a:p>
          <a:p xmlns:a="http://schemas.openxmlformats.org/drawingml/2006/main">
            <a:r>
              <a:t>- An answer without JSONL points to plugin registration, callback errors, or the recording path.</a:t>
            </a:r>
          </a:p>
          <a:p xmlns:a="http://schemas.openxmlformats.org/drawingml/2006/main">
            <a:r>
              <a:t>- A recording without a live trace points to Google credentials, project, API, IAM, or delayed export.</a:t>
            </a:r>
          </a:p>
          <a:p xmlns:a="http://schemas.openxmlformats.org/drawingml/2006/main">
            <a:r>
              <a:t>- A live trace without replay points to record parsing, span mapping, exporter shutdown, or flush behavior.</a:t>
            </a:r>
          </a:p>
          <a:p xmlns:a="http://schemas.openxmlformats.org/drawingml/2006/main">
            <a:r>
              <a:t>- Use the terminal for exporter exceptions and confirm the active Google Cloud project explicitly.</a:t>
            </a:r>
          </a:p>
          <a:p xmlns:a="http://schemas.openxmlformats.org/drawingml/2006/main">
            <a:r>
              <a:t>- Change one layer at a time and rerun the smallest validating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The last successful evidence surface tells you where to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- https://cloud.google.com/trace/docs/troubleshooting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Landing sentence: The class ends with one operational habit: preserve evidence so an agent execution can be explained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- Run the agent once and let ADK export its native spans to Google Cloud Trace.</a:t>
            </a:r>
          </a:p>
          <a:p xmlns:a="http://schemas.openxmlformats.org/drawingml/2006/main">
            <a:r>
              <a:t>- Record selected ADK events to a portable JSONL file.</a:t>
            </a:r>
          </a:p>
          <a:p xmlns:a="http://schemas.openxmlformats.org/drawingml/2006/main">
            <a:r>
              <a:t>- Show or play the file when humans need to understand sequence and handoffs.</a:t>
            </a:r>
          </a:p>
          <a:p xmlns:a="http://schemas.openxmlformats.org/drawingml/2006/main">
            <a:r>
              <a:t>- Replay the recording when a new trace view is useful without a new model or tool call.</a:t>
            </a:r>
          </a:p>
          <a:p xmlns:a="http://schemas.openxmlformats.org/drawingml/2006/main">
            <a:r>
              <a:t>- Use service names and attributes to distinguish live evidence from reconstructed evidence.</a:t>
            </a:r>
          </a:p>
          <a:p xmlns:a="http://schemas.openxmlformats.org/drawingml/2006/main">
            <a:r>
              <a:t>- Apply content discipline because telemetry becomes durable operational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Takeaway: An observable agent is one whose decisions, dependencies, and failures can be reconstructed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https://adk.dev/observability/traces/</a:t>
            </a:r>
          </a:p>
          <a:p xmlns:a="http://schemas.openxmlformats.org/drawingml/2006/main">
            <a:r>
              <a:t>- https://adk.dev/observability/cloud-trace/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d2d7774f7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f7ff0a2374bec" /><Relationship Type="http://schemas.openxmlformats.org/officeDocument/2006/relationships/slideLayout" Target="/ppt/slideLayouts/slideLayout1.xml" Id="Re1a47c353c0b4f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a47c353c0b4f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b82e3f50c49d9" /><Relationship Type="http://schemas.openxmlformats.org/officeDocument/2006/relationships/notesSlide" Target="/ppt/notesSlides/notesSlide1.xml" Id="Ra137c0f340ef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161ca156e4bb1" /><Relationship Type="http://schemas.openxmlformats.org/officeDocument/2006/relationships/notesSlide" Target="/ppt/notesSlides/notesSlide2.xml" Id="R72ad32f2e5d3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7b8a718df4a75" /><Relationship Type="http://schemas.openxmlformats.org/officeDocument/2006/relationships/notesSlide" Target="/ppt/notesSlides/notesSlide3.xml" Id="R9df233d93d1b4f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fc23ccf24978" /><Relationship Type="http://schemas.openxmlformats.org/officeDocument/2006/relationships/notesSlide" Target="/ppt/notesSlides/notesSlide4.xml" Id="Re1d5f28348a04b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de6fd64444c81" /><Relationship Type="http://schemas.openxmlformats.org/officeDocument/2006/relationships/notesSlide" Target="/ppt/notesSlides/notesSlide5.xml" Id="R7751655f8dda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5db977e634c42" /><Relationship Type="http://schemas.openxmlformats.org/officeDocument/2006/relationships/notesSlide" Target="/ppt/notesSlides/notesSlide6.xml" Id="Rea805ceab227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415eeeeb24f35" /><Relationship Type="http://schemas.openxmlformats.org/officeDocument/2006/relationships/notesSlide" Target="/ppt/notesSlides/notesSlide7.xml" Id="R850a068ac41a4d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27a895f1e4130" /><Relationship Type="http://schemas.openxmlformats.org/officeDocument/2006/relationships/notesSlide" Target="/ppt/notesSlides/notesSlide8.xml" Id="Rb9a4a78a7759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d3b683d7b4971" /><Relationship Type="http://schemas.openxmlformats.org/officeDocument/2006/relationships/notesSlide" Target="/ppt/notesSlides/notesSlide9.xml" Id="R123464d7989e4f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feb6c5e9744f5" /><Relationship Type="http://schemas.openxmlformats.org/officeDocument/2006/relationships/notesSlide" Target="/ppt/notesSlides/notesSlide10.xml" Id="R789acb007e2742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3f9df8fa04bfe" /><Relationship Type="http://schemas.openxmlformats.org/officeDocument/2006/relationships/notesSlide" Target="/ppt/notesSlides/notesSlide11.xml" Id="Ra7e58533769f4b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1b5186a74a1b" /><Relationship Type="http://schemas.openxmlformats.org/officeDocument/2006/relationships/notesSlide" Target="/ppt/notesSlides/notesSlide12.xml" Id="Rcdf658c3695043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a37a18554a17" /><Relationship Type="http://schemas.openxmlformats.org/officeDocument/2006/relationships/notesSlide" Target="/ppt/notesSlides/notesSlide13.xml" Id="R7aeb6cb19ef74e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c7e483c3e4e4b" /><Relationship Type="http://schemas.openxmlformats.org/officeDocument/2006/relationships/notesSlide" Target="/ppt/notesSlides/notesSlide14.xml" Id="R2c78bd87f3f04d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6caf5d16b4913" /><Relationship Type="http://schemas.openxmlformats.org/officeDocument/2006/relationships/notesSlide" Target="/ppt/notesSlides/notesSlide15.xml" Id="Rfc230ebffac446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758fd97354fe1" /><Relationship Type="http://schemas.openxmlformats.org/officeDocument/2006/relationships/notesSlide" Target="/ppt/notesSlides/notesSlide16.xml" Id="R8cc718e11af544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7112eb944a76" /><Relationship Type="http://schemas.openxmlformats.org/officeDocument/2006/relationships/notesSlide" Target="/ppt/notesSlides/notesSlide17.xml" Id="Rd903d9201e7c46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687769aa48ee" /><Relationship Type="http://schemas.openxmlformats.org/officeDocument/2006/relationships/notesSlide" Target="/ppt/notesSlides/notesSlide18.xml" Id="R0cdaa5e94c5648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1eae31a3461b" /><Relationship Type="http://schemas.openxmlformats.org/officeDocument/2006/relationships/notesSlide" Target="/ppt/notesSlides/notesSlide19.xml" Id="R97ea7d5acd7349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33e9ebfc34f67" /><Relationship Type="http://schemas.openxmlformats.org/officeDocument/2006/relationships/notesSlide" Target="/ppt/notesSlides/notesSlide20.xml" Id="Rcbf523bb6f7043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9BE29-392E-4926-B4C8-650E1842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6C5D7-26E1-4A27-971D-20828E1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628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E8F0F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4ACDC-F727-4E09-AED4-837CD06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4293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OBSERVE THE AGENT,</a:t>
            </a:r>
          </a:p>
          <a:p xmlns:a="http://schemas.openxmlformats.org/drawingml/2006/main">
            <a:pPr algn="l">
              <a:defRPr sz="37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NOT JUST THE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FF67-343D-4DBD-A4B1-DAECA215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OpenTelemetry with Google Cloud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3BA86-6DC7-4534-9A88-8763C3E6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0868B"/>
                </a:solidFill>
                <a:latin typeface="Arial"/>
                <a:ea typeface="Arial"/>
                <a:cs typeface="Arial"/>
              </a:rPr>
              <a:t>Record events · show them · play them · replay traces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42BE6-BE19-4FFB-B3AB-A271B4E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29EEC-9447-4852-877C-0A084F02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90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LIVE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ACA4-B724-4DA7-84B6-0671DC3B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ADK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EB6A9-7450-4DD5-B8D2-89C6E98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8CDAD-F88C-4915-A917-17D8717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27474-A378-4336-8CEF-98F0B06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events.jsonl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F8F78-EE11-4701-B19A-EA005008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5461E-AA7E-4BC6-912C-BEFE5A3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67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6700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CD836-DA3E-4FC5-B15D-E8B8C455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95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Cloud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70D80-B0A0-4EC0-BFE9-512BE17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61273-987F-471F-A6EB-7A0018B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48100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A8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90612-B61B-4545-8E2D-0DDA264B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Instructor deck · Google Cloud-native lab</a:t>
            </a:r>
          </a:p>
        </p:txBody>
      </p:sp>
    </p:spTree>
    <p:extLst>
      <p:ext uri="{BB962C8B-B14F-4D97-AF65-F5344CB8AC3E}">
        <p14:creationId xmlns:p14="http://schemas.microsoft.com/office/powerpoint/2010/main" val="1818308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F0CA4-097D-4FD5-BED2-E1A12BCF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0D2E7-C533-43DB-B26D-43391A53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FINAL ANSWER HIDES THE WORK THAT PRODUCED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97C7A-BA99-4F89-8D87-EEDDDDE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Observability turns one opaque result into an explainable execution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90EF0-348A-49FE-BDB6-F60EE245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41CDA-8E1C-49AE-A974-DEFBDFC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2AC1C-03B9-4689-8502-6E135BD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646D-8D8E-42E3-9C74-E1DCE3C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6385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13160-11F5-4DBD-98E5-DA72BE8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B93BB-5AD6-4417-B280-836AE75A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8194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2BFEE-BF49-4013-808D-3462E25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“The refund is approved.”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F7A63-A4DD-4FC8-A2F1-CB2A370F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Correct—but why?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CD5AD-66D9-4CB0-91CA-238EE20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0868B"/>
                </a:solidFill>
                <a:latin typeface="Arial"/>
                <a:ea typeface="Arial"/>
                <a:cs typeface="Arial"/>
              </a:rPr>
              <a:t>model call?  tool?  policy?  latency?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5D0CA-5C07-4DAA-B190-6FD97A4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6286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E8C02-B6AC-494C-AF84-532A6F0E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BD34A-3DD2-4128-868C-2A9D190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533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67CF6-6256-4E4E-852C-A668E9C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527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invoke_agent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47F11-256B-4498-ADAD-0EDA59C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09900"/>
            <a:ext cx="4476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9BE5B-210E-424C-B396-A848C27F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8610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invoke_workflow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42D82-183C-483A-96C9-B82D697C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3333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E41A0-C649-4628-8A02-F8AF4F0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generate_content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9FFCB-D515-4C62-B529-D611C4B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2428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DDD9C-EFED-4556-AFD1-72604096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5290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execute_tool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D9B7A-E6AD-4A2A-9F06-A107F5B3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answer → one trace → many spans</a:t>
            </a:r>
          </a:p>
        </p:txBody>
      </p:sp>
    </p:spTree>
    <p:extLst>
      <p:ext uri="{BB962C8B-B14F-4D97-AF65-F5344CB8AC3E}">
        <p14:creationId xmlns:p14="http://schemas.microsoft.com/office/powerpoint/2010/main" val="2021665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6255E-755E-48D8-913B-7B6AB2EF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C3636-D6C9-4C30-8467-5897F68D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RUN BECOMES REUSABLE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ED98-0F1E-424C-A629-8EA0154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lab separates execution, recording, inspection, and replay.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D8601-D154-4573-89F8-88C2B72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F74F5-714E-4DDC-9642-F763D04A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21D0D-9BD7-4BB0-BF3D-DAA1DB8A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D5706-371B-42B4-B371-0928863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324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D1D6C-8340-4756-A798-F14E2ED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D09B-F8D7-4B56-B202-6ACE97FC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A2184-5D70-49A6-8520-B1B4A5E3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ADK executes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DDADD-718C-46EC-B462-ADE7989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324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39732-C705-4A20-ACAA-3392520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2F76A-B3B1-4702-8390-C73AEAFF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86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51E0D-140A-416C-8385-B7EE9161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Events → 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6C5A1-4BE1-4821-98A9-E4B6EA5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324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0364E-B528-43F8-BF7E-297A488D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275EC-D436-4EBF-A60F-8A7D424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0EE7A-FE8C-42DF-929C-244FA826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Read at human 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04AB7-7FDB-4B16-973E-89881D3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52650"/>
            <a:ext cx="2324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56539-D6A3-4BE2-A8BF-785ABA5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B58AF-7925-4406-9A1D-EADB7B8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861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F47CD-A298-47CE-BEC3-2CD09AA0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Rebuild Cloud 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84E38-B22E-451A-9039-5756729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68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AE342-3804-429C-A9F9-08B0967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6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AF82E-8A76-4FCB-8691-F539598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6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2C83D-545A-49AF-AEF6-916DED4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Execution happens once. Evidence can be inspected many times.</a:t>
            </a:r>
          </a:p>
        </p:txBody>
      </p:sp>
    </p:spTree>
    <p:extLst>
      <p:ext uri="{BB962C8B-B14F-4D97-AF65-F5344CB8AC3E}">
        <p14:creationId xmlns:p14="http://schemas.microsoft.com/office/powerpoint/2010/main" val="1993320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70B39-EED1-462F-A356-E814D957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5331-6E19-465C-9FD6-8F59967A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TELEMETRY HAS FIVE USEFUL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4B5B3-5AF1-401D-B6E7-28A3748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level answers a different question; together they tell the whole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5007F-17E7-4187-A473-FE22529D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DFCB3-B8AA-42A8-9F2B-CA491683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F150F-700D-41FC-AE3A-FB57CFB6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2DC1-2616-4D96-ADFF-4EFFCA6B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57350"/>
            <a:ext cx="971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385EC-E4A0-4DCF-9B6A-3EB67BC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1666A-FF49-45CE-A804-B90FB81C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776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happened across a conversation?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51016-BCA6-4264-AABC-4FBE9122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0300"/>
            <a:ext cx="857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1E216-21BC-4A3E-839E-D11B46F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D4282-194C-44FA-A07A-47E69B69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661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happened in one request?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A94C4-284E-4ACF-A1DB-78FC1236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742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9AA94-B711-4763-B898-BA8EC7E9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SPAN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34ECF-DCA9-4267-9D51-131DC73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547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Which operation took time or failed?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0B88F-7394-45EC-ADF8-5A16B4FE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628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35336-0878-4684-8EC1-394B94B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38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59FEA-0E8D-4374-89A5-2B284CF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occurred at a moment inside execution?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3F6C-0450-49A8-81CC-53D3620F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1D3E0-D4DD-46D6-A645-07B9286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81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458B8-3ABB-4FAA-AFC1-FFBD416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 did the program say?</a:t>
            </a:r>
          </a:p>
        </p:txBody>
      </p:sp>
    </p:spTree>
    <p:extLst>
      <p:ext uri="{BB962C8B-B14F-4D97-AF65-F5344CB8AC3E}">
        <p14:creationId xmlns:p14="http://schemas.microsoft.com/office/powerpoint/2010/main" val="722717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F11DD-8BC5-4197-9178-882167EE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9D40D-B982-40A6-AE74-14033F7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ADK ALREADY EMITS THE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598E3-79E0-4BD1-849E-87BA1BE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Native spans expose the agent, workflow, model, and tool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02ED-FF87-49E5-BCFB-3628A3A8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7870C-3F6C-4282-8A3F-94E8F072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70C73-90D0-4EA3-86DC-3EDD9B8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9D0D-AC2B-47CD-9046-331621F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66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TIME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0713A-2C59-432A-B71A-82467B8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invoke_agent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512A1-04E5-4143-8223-42E80A2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857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63B2A-020C-44F3-8E80-438A767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03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D396C-52D1-49CC-936A-70F3A10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invoke_workflow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CD63C-8360-48E6-94A8-707751E1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62300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9F7B5-4CAA-46B0-B8A1-A2B05390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521AF-4564-4AAE-8ADE-AD1D8C9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generate_content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F0CE1-F370-4608-856F-B0602FD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4572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A21AF-C860-46E8-911E-D0A5F8A1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76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4C4AB-3FB0-47DA-9AC8-3B697EE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execute_tool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2681A-57F7-4318-A5AE-0491635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3870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99B4D-EEC7-474F-8DA7-D81EB7AB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9149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358F4-C5EC-45E0-B2DE-398F01E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CE64B-722B-4DD1-B98D-D055FBD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9070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EBC4F-EF97-4FC3-8FCD-7F1CE669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Parent-child relationships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B94F0-FE44-4240-AA22-94EAD0AC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81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Timing · status · attributes · errors</a:t>
            </a:r>
          </a:p>
        </p:txBody>
      </p:sp>
    </p:spTree>
    <p:extLst>
      <p:ext uri="{BB962C8B-B14F-4D97-AF65-F5344CB8AC3E}">
        <p14:creationId xmlns:p14="http://schemas.microsoft.com/office/powerpoint/2010/main" val="1965426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14EE6-9B99-4CD6-9D88-F9EB00C6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26587-3B39-4EEA-8866-09D5BEC0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“EVENT” MEANS TWO RELATED THINGS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FF495-2FA3-4F5C-96A5-97A7A9E7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ADK Events carry interaction state; OpenTelemetry span events annotate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8D318-98E9-41CE-BE0C-EBE48444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E2CBD-12B7-4686-B667-FF81737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6E37-9CA9-4127-8CE0-E5A91A8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A5D53-A0B6-4781-BD9F-1920E42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9053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7B502-BDDA-49CF-BF00-7E2AD2D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63A1E-68B6-4C47-A427-84F366B6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Event 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3DF81-2549-4453-96A7-492AD5C3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Flows through agents and callbacks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A543A-954D-4D85-A979-98C53A6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0AA8F-F31D-4445-9FC8-6E625FD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CONTAINS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BC6FC-0BF7-43FA-BC72-C70DAF55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author · content ·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79D84-77AD-42C1-BF2E-B8F4BEE0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11560-1DAE-4C1C-B99F-0D66C20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DF18C-9426-40A4-A68B-4446C5A1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76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 + reconstruct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9463E-061D-4797-8F7C-0D1D47F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33550"/>
            <a:ext cx="49053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13C1D-EC19-40F1-83F8-EA641B59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002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9F795-2801-47F8-B210-547C7129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33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Span event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0E6A6-7630-4157-A840-5E90136A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05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Attached to the active timed operation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4BE9F-2D3A-4471-AB7B-92A5252A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766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7C958-A8C2-4172-99CC-A99EB3B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242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CONTAINS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80B70-FE49-4481-BAF5-D6181AB0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14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name · time · attributes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132EB-1E00-4E39-8149-84A0CBA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386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15D52-3288-4169-9179-EBEA27B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862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17A51-37C2-490D-8F16-EE3F921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767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explain a span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A4D5D-21F8-406D-9A3F-F01190DF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14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20212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86139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95870-FC4A-4000-A0F4-685ED9CE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80C8-9660-4C1C-A436-0864A1B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GOOGLE CLOUD PATH FOR LIVE AND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52F08-48D2-4B30-96B9-5B9B2996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Google Cloud Trace is the only observability backend in the lab.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836AF-5513-4AEA-9D0F-6BEA1A27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FB3BD-6E16-4A41-89AD-D07CA0A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8933E-F727-455C-88F6-B6BA8922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B6889-A2F3-4F88-AB0C-59CAF523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AE97C-BA58-4245-B202-CFA0FD4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LIVE ADK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BB46A-61C1-4320-AA32-B7951D2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native OTel spans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7E44A-D72A-43D4-9372-B9206DE4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8BC79-66B7-4966-A16B-5BB9DEFD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67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EVENT PLUGIN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91826-FEAD-4E38-A130-EDCBFFE2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290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events.jsonl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DFCFC-D14B-40D0-80E1-42CC116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9571F-24A7-43EF-933B-03D4E80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6700"/>
                </a:solidFill>
                <a:latin typeface="Arial"/>
                <a:ea typeface="Arial"/>
                <a:cs typeface="Arial"/>
              </a:rPr>
              <a:t>REPLAY 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A5245-2D4F-440F-B06A-9C728BE1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recreated spans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7F9C5-B937-4A74-9B9D-CB4F739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952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73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71B5-0A06-46DB-B987-004553F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09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AF69E-5C18-4FB9-90D3-D65B93F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GOOGLE CLOUD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2A241-EE6A-4BD5-A2BA-204B89A4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Search · inspect · compare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409950" y="2286000"/>
            <a:ext cx="5029200" cy="1057275"/>
          </a:xfrm>
          <a:prstGeom xmlns:a="http://schemas.openxmlformats.org/drawingml/2006/main" prst="bentConnector3">
            <a:avLst>
              <a:gd name="adj1" fmla="val 95455"/>
            </a:avLst>
          </a:prstGeom>
          <a:ln xmlns:a="http://schemas.openxmlformats.org/drawingml/2006/main" w="28575">
            <a:solidFill>
              <a:srgbClr val="1A73E8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076450" y="2857500"/>
            <a:ext cx="390525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A853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076450" y="4362450"/>
            <a:ext cx="3905250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BBC04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3409950" y="4171950"/>
            <a:ext cx="6505575" cy="112395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EA4335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E3213-425B-44FC-8C8E-1A8979A3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No Jaeger · no local collector · no second backend</a:t>
            </a:r>
          </a:p>
        </p:txBody>
      </p:sp>
    </p:spTree>
    <p:extLst>
      <p:ext uri="{BB962C8B-B14F-4D97-AF65-F5344CB8AC3E}">
        <p14:creationId xmlns:p14="http://schemas.microsoft.com/office/powerpoint/2010/main" val="118263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5FE5A-246B-40E2-A84A-BA55704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56E61-A7F7-4E4A-A48A-8048ECD3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BUILD ADDS EVIDENCE—NOT ANOTHER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287D7-9D0C-4F65-B7E6-9106D9D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plugin and three small scripts surround the existing agent.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A639B-880F-479E-A85F-9299C31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3D8B-4D49-4634-9913-219AF6A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B42E2-F118-4581-B5EB-C0AAD9B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2291D-5802-4072-9BE8-03893D56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645E3-4470-4212-8979-04BAB742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24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class-02b/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E83C4-F94E-46B6-B659-7C2CF2F9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agent/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4D772-227D-49FA-B045-5E805ED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└─ agent.py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54AFA-F07A-46B7-A029-D7C86383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└─ telemetry_plugin.py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B43D2-9D98-4B99-85BB-6E1A7EB7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432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recordings/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2ACBF-1BD4-4877-BAF1-CF899C2B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└─ events.jsonl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1D60B-C88C-4720-B6D6-27BE43B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00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scripts/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2448C-A5C1-4213-B947-02D4DD5E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└─ show_events.py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61802-BAA2-49AC-814D-815C1F7C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76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└─ play_events.py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652C9-F775-42F1-A5F8-AF811455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└─ replay_events.py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043CB-B822-48F7-AC3B-638270C9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38300"/>
            <a:ext cx="4762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53F1B-6C71-408B-9545-D231E2A9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497C6-731A-4D87-A909-1C73808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FC974-6588-49AD-9933-4685185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860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682C0-9D13-4C4E-A72E-909F0A7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765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plugin callback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BBB09-97A7-4331-ACF6-A6F339D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274F5-C908-4B95-A6A8-88513628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45471-34C1-45E7-B7F4-8D2531BA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528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JSON object per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5FA19-BF4D-4D28-8437-BDF10BA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FCC94-CBEF-4BCD-A8AD-3ABC6E88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386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8306F-A19B-47F4-902D-4463F85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three single-purpose scripts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6195C8-AD46-403C-8BC7-91D68E9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The agent’s business logic stays readable.</a:t>
            </a:r>
          </a:p>
        </p:txBody>
      </p:sp>
    </p:spTree>
    <p:extLst>
      <p:ext uri="{BB962C8B-B14F-4D97-AF65-F5344CB8AC3E}">
        <p14:creationId xmlns:p14="http://schemas.microsoft.com/office/powerpoint/2010/main" val="510007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4F217-4894-4A84-B8D3-A86F747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05E4-991C-41BE-A561-1D626FA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SUCCESS IS VISIBLE IN FOUR PLACES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236E-25C6-4CA7-BB6B-312675A2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surface validates a different layer of the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05816-BEDA-4626-BC05-9446C3E7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EF7DD-99FB-4D7B-A1B5-A735DE0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0A7E-5323-449B-842B-54FAB7AC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BE84A-4E0F-4444-9121-B08EC49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01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9C2B-D250-4DE0-A073-87C430D1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9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27CCD-9D00-46A7-BE41-569D3CEC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ADK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8672-4FCC-4D6A-9812-90D6DB42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Run the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8EB96-501E-49C3-816F-B0879F11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request +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F3A79-02C9-413F-BF97-EF909D36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48101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3CAA3-2CB9-450F-8145-A41A52A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97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20F88-2AF3-415B-A342-58BD7413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81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D945D-64D4-4B3B-B4C5-A8586AA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52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Confirm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4418B-912F-4E86-829C-93A9CEC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trace IDs +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4FC5E-986C-45B2-9A5A-424F556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8101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FC3B2-9CAC-4489-8094-D0E5C59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AF741-14B4-4553-A2EB-99A895B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JSONL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7CB52-AF94-4C9A-B476-DB8FEEE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Inspect raw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2C91D-EDF4-4FEC-8EB4-F07F712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ordered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80788-A735-4FED-B148-6F667E37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90950"/>
            <a:ext cx="48101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B2EB3-0F77-4772-946A-F4783C8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86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2D375-28AA-4A13-93D3-F5B25B2E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57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CLOUD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EB0EF-FBCA-40CD-87A3-FADF3553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29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Investigate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DF2EE-B997-4364-A9B5-3BB0ED0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10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waterfall + attributes</a:t>
            </a:r>
          </a:p>
        </p:txBody>
      </p:sp>
    </p:spTree>
    <p:extLst>
      <p:ext uri="{BB962C8B-B14F-4D97-AF65-F5344CB8AC3E}">
        <p14:creationId xmlns:p14="http://schemas.microsoft.com/office/powerpoint/2010/main" val="672262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AE1B9-E353-41DB-B84A-A00666C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02303-8B82-45F8-B751-0383DE8D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CLOUD TRACE NEEDS FOUR THINGS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76F77-C6E2-4C5F-B05C-D1BC317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Configure the destination before diagnosing the instrumentation.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AD30A-1C97-4364-917F-65FAFA8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6B529-F3DA-41EB-8A81-8FBCB6B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FFE73-7704-4616-958A-EEB6F2AB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A3C68-8310-4CA1-BA96-9BC789BE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5EDB1-56BF-456E-B3C0-1AD65B0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F6137-6B5D-4592-838E-D042AAC5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FD71E-6727-410E-987D-8CC2FFBD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0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Select a Google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Cloud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0B4E1-4FCD-44E2-954F-F9955C82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38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5719-A8F2-411A-BF0A-F86C35FE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ADC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1C250-BCC8-4AC7-83BC-DBB05EB4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Authenticate local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4F4D1-6233-4DFB-B417-8C04D3E1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472A4-9F3C-4BFE-BDD8-94AD46B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BBC0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BBC04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951B5-9202-4C74-99A9-025483D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Enable Cloud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Trace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973FB-A3E3-4E89-B371-BF32190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384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C574B-1D85-4F34-8168-2E7FEA47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IAM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B1DD0-5815-4EF8-9A6D-726FE50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10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Write spans +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view traces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162DE-C616-4328-9C51-CE6CFFF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Writer: roles/cloudtrace.agent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AAD2B-6BED-41DC-AD66-EC3C793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435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Viewer: roles/cloudtrace.user</a:t>
            </a:r>
          </a:p>
        </p:txBody>
      </p:sp>
    </p:spTree>
    <p:extLst>
      <p:ext uri="{BB962C8B-B14F-4D97-AF65-F5344CB8AC3E}">
        <p14:creationId xmlns:p14="http://schemas.microsoft.com/office/powerpoint/2010/main" val="1328884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A2110-3755-48F5-9C2E-8B5444FC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E24AF-FD93-4184-9C1A-7887313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MODEL AUTH AND TELEMETRY AUTH ARE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8B750-4503-4BDF-8FDE-572B6D1F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successful Gemini call does not prove Cloud Trace can accept spans.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D42E8-CDD1-480B-9D17-E6C638A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40140-B3AA-4B8E-8B70-7C6DDCA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85B38-230D-41AA-9EF6-F6C5E1A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6ECE2-0F2B-4309-9D51-B977362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8768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3BA1F-D27E-4C84-890E-F934C21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MODEL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00AD2-6F4C-488A-B3F6-F9FB88CA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Gemini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D93F6-399F-4631-892F-0CACEDAC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API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326F4-E100-4591-A9D6-3A154795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57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FD83F-A581-4599-9F60-821EB3E9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04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VERTEX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DA55C-2443-428C-86A6-5DE208F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Can the agent call the model?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99FB6-E243-4B9B-86B0-9E2D6703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48768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E6FE8-F2A7-4C28-A667-8CF33C43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TELEMETRY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B6B26-7FFB-442A-80B1-5C608E94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Trace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AA81B-555F-4A44-94AC-8A10ECB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GOOGLE ADC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F47A6-6BA2-435C-AD3E-8856B98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TRACE IAM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916BA-2AA7-4A9F-94DB-A30B7C27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Can the app write to Cloud Trace?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77351-DA6C-461B-BF10-821C405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67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Two green checks are required</a:t>
            </a:r>
          </a:p>
        </p:txBody>
      </p:sp>
    </p:spTree>
    <p:extLst>
      <p:ext uri="{BB962C8B-B14F-4D97-AF65-F5344CB8AC3E}">
        <p14:creationId xmlns:p14="http://schemas.microsoft.com/office/powerpoint/2010/main" val="3355204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4C629-6CF8-476D-A011-362DD99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4C71B-E386-4AEB-B152-7A1451C5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ONE PLUGIN OBSERVES EVERY AGENT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77B7B-3767-40AF-BDFD-000E8135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callback records evidence after ADK emits each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355D5-BDF5-480D-BBBF-FB8A9AA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81548-6228-4FC6-B6A7-816F458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F5185-8BC2-4E18-A38B-3F7F3E9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395D7-D64B-416D-8160-888B8CEE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383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E80D5-4DE9-46EB-92FA-603EA58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19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FB4D6-8117-48F9-B288-E840500D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ADK emits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DE68F-7044-48A7-AFD5-8D08A61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runtime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B9542-965A-469E-8690-D8235EA2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383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3A25F-4566-4B1D-A72C-8E17799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219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3FDF8-E4B2-4B37-BDFC-6925F66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D68C2-3296-4987-9A8F-FF7EEA9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receives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EB830-938E-4092-98C1-43EE2A4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EFC84-F8EC-4405-8658-3639BAD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19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430E1-74B7-46F0-BDE7-FFB0FF4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Serializer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9CCF-86CC-49F7-87FF-60C8A23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selects fields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D0ED5-FC0E-4473-8630-70572BF2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CA4D3-6208-44A9-AE41-2F0A7E98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19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9E1B7-5FC3-48FF-83DB-06A0FA5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Writer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FD254-6FDF-4D41-8D8C-08701113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appends JSONL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00300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0868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29200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0868B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658100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0868B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5FD7F-59C7-4B94-880E-1F55CE3E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The plugin observes; it does not change the agent’s decision.</a:t>
            </a:r>
          </a:p>
        </p:txBody>
      </p:sp>
    </p:spTree>
    <p:extLst>
      <p:ext uri="{BB962C8B-B14F-4D97-AF65-F5344CB8AC3E}">
        <p14:creationId xmlns:p14="http://schemas.microsoft.com/office/powerpoint/2010/main" val="9446358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BE042-74C9-4281-B1B7-C9C9E7B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46CC1-5C65-4867-A64B-0011155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THREE ADDITIONS CREATE THE RECORDING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7231A-5780-41AD-BF60-8E543C1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student work is deliberately small, visible, and testable.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B867D-0F02-40CA-B329-E052967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96226-DAB6-4B7A-995D-28F89A49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D8488-048D-475A-8D76-61ABA0C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9C16-721F-4EDD-B3F3-4EE4004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B47A4-79B5-4089-9C0B-E37CB4D8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053BE-DB4A-4D96-93A1-1FCF28B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145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24C06-F0AF-4A45-99FF-6D88ECE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647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95F57-CB65-41FA-8D39-28E2007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event_to_record(event)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C9827-61E3-45FF-8EC3-4C2E6AFA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Choose stable, safe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EDCD-D504-4755-82B0-2E5D2378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CA41D-22F5-46A2-89D1-2A97447F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AE3F7-FB20-4D42-9D4E-8E1922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6C16B-5F7A-4A9F-8CD1-F65AC27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APPEND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C3B3B-7537-4FD5-92F6-B5302AA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2647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A0FC5-4DFF-4919-8D41-E501E58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append_record(record)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D74E4-E023-442D-BF8A-C72EB6D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Write one JSON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9008E-CAB1-4AFC-9677-7FFAD620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91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append-only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02251-6C40-4E14-A9E2-6FFE1DE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66538-8C90-4E13-8E1F-7D37C56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AECF4-98A4-4929-977B-3CEEF4E7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ANNOTATE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EB87C-DB43-4802-A8BD-AF73283B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2647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FED6D-AD27-4DBE-83AC-B0408F07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span.add_event(…)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0B5A2-832E-49B6-829A-124EDEBB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Link the record to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E952BC-777D-4085-BC7B-E9361A8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91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current span</a:t>
            </a:r>
          </a:p>
        </p:txBody>
      </p:sp>
    </p:spTree>
    <p:extLst>
      <p:ext uri="{BB962C8B-B14F-4D97-AF65-F5344CB8AC3E}">
        <p14:creationId xmlns:p14="http://schemas.microsoft.com/office/powerpoint/2010/main" val="20294862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2DBA4-BF4C-4CDA-A595-9933FA65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41928-4D07-4B43-A359-1018591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LIVE RUN EXPORTS NATIVE SPANS DIRECTLY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4762B-18B1-4DBA-BBCE-52C8D823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ADK command enables Cloud Trace without a separate collector.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DBD26-8EB5-4DBA-AC2D-8718D05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DF029-BDE1-495E-830E-970A4256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06A5E-5B07-44F2-B8A3-43F2044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3A061-0971-46C3-B185-13F711C1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44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9525">
            <a:solidFill>
              <a:srgbClr val="2021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E769D-D019-4000-A8E3-FD3D2F2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 adk web --otel_to_cloud --port 8000 --reload_agents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1E24E-391C-478E-8969-345E8E8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Then run one prompt in ADK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BC199-40E1-4E7C-977C-206A7E9B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33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B7A29-5E91-4BD7-A3EF-1FDA826D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43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invoke_agent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B1FCE-CAAB-40F2-83D6-D4D0EE27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7334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3CB91-0E94-4815-AD50-F38051AF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invoke_workflow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F70AB-E32D-43C7-8C21-8BA0039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1967B-F893-4C3C-AB13-8125DB54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generate_content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2CAFA-B550-4C73-B2C5-7C55A639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2445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41573-462F-4D25-921E-ECDEE8E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172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execute_tool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6932F-C221-4ABC-A86E-DD8EC91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service: class-02b-adk</a:t>
            </a:r>
          </a:p>
        </p:txBody>
      </p:sp>
    </p:spTree>
    <p:extLst>
      <p:ext uri="{BB962C8B-B14F-4D97-AF65-F5344CB8AC3E}">
        <p14:creationId xmlns:p14="http://schemas.microsoft.com/office/powerpoint/2010/main" val="10607060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6A7AD-7D85-47E6-88B8-FF88064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DAD9-FEC8-4A63-ABEB-C8156CF5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PLAYBACK TELLS THE STORY AT HUMAN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9825-D9C8-4A39-AC08-F44BD87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timeline is easier to teach than a wall of JSON.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8BF67-B897-4D79-B092-1420B82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6D57B-1813-4275-9CB5-6E93AB2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0EB3-D55B-46BF-BB33-3F52066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9F117-C061-4FDB-9D3A-2D6CF369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8B870-53F3-410E-9EEB-EF062490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69F75-27C8-4100-A1AC-02BB086A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0.0s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3D481-EBCB-4AC5-A471-6B4617DE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58CC3-B975-4C41-BDEF-F1ABC84F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5668-6AF8-4057-A601-23E76D18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817EA-476D-4F39-B036-24E8D5D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0.4s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1DA5F-1FBF-4C48-B658-658C453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1B3BD-CED6-45F2-A6BC-73AFA2E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31265-E674-407F-A866-FBA4DB3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49EE3-4141-4061-BAB3-17107C2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BBC0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BBC04"/>
                </a:solidFill>
                <a:latin typeface="Arial"/>
                <a:ea typeface="Arial"/>
                <a:cs typeface="Arial"/>
              </a:rPr>
              <a:t>1.1s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B583D-EC9D-4054-AA93-0E89F1B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C0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C0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F6145-95E6-428D-B3AF-34CC14DF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15978-625F-4958-8E32-84BB4E05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62E29-272F-4A44-BA4D-19663E77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1.8s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4B73D-C5FF-43B8-864C-081743E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EB01B-637B-4240-B171-DA6B8932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27326-6358-4BD2-BBDB-0F3E338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52A94-B301-475A-951D-27611CFF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2.4s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0507D-2C91-4203-8002-E662F04C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14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7DB9B-51FD-475D-8B12-BD3C04F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005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55023-231B-447A-8877-CF9A627D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6286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9309C9-5C7F-457C-AAB1-6E599AC6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29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$ python scripts/play_events.py recordings/events.jsonl</a:t>
            </a:r>
          </a:p>
        </p:txBody>
      </p:sp>
    </p:spTree>
    <p:extLst>
      <p:ext uri="{BB962C8B-B14F-4D97-AF65-F5344CB8AC3E}">
        <p14:creationId xmlns:p14="http://schemas.microsoft.com/office/powerpoint/2010/main" val="315325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5F9C1-568C-48C6-8064-C708E26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93A58-AD46-4B31-82E8-0EC7A0C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REPLAY RECONSTRUCTS EVIDENCE—NOT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2FA84-7F68-4ED0-9350-F449B5B9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Stored events become a fresh Cloud Trace without rerunning Gemini or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4764C-FDC4-4124-9515-8415483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91771-1719-462C-8E43-597BFE6C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FE969-ACBF-46CB-8546-D1FD3A9F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D7B4A-7800-42B8-9848-D6173BB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9B240-FD66-46AC-A4A4-B43E749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EVENT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0E6D9-73C5-4A7E-92A3-2A6CD55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events.jsonl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4FD4F-68AF-4682-90F8-769A1C88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2857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D8AC7-7546-4E3F-85F4-AC13027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7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6700"/>
                </a:solidFill>
                <a:latin typeface="Arial"/>
                <a:ea typeface="Arial"/>
                <a:cs typeface="Arial"/>
              </a:rPr>
              <a:t>REPLAYER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44B0E-BCCA-4BD8-A022-368C2E4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records → spans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C9D17-A3A0-4675-9D8C-4ECC9DE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1009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no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49F01-FC95-4056-9509-5BBD5972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009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no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09199-1ED5-4677-8CB4-8C8615D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4F0D2-B43E-4449-87FB-960DC2D8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9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CLOUD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C1A86-BF66-4034-BD66-837432C8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class-02b-replay</a:t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62300" y="30765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4A853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43800" y="3076575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73E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08230-DC19-48EA-8318-03D074F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New trace ID · preserved event order · reconstructed timing</a:t>
            </a:r>
          </a:p>
        </p:txBody>
      </p:sp>
    </p:spTree>
    <p:extLst>
      <p:ext uri="{BB962C8B-B14F-4D97-AF65-F5344CB8AC3E}">
        <p14:creationId xmlns:p14="http://schemas.microsoft.com/office/powerpoint/2010/main" val="20113176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F407D-B2FE-4A65-A813-78B045E2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26929-EF9E-4D30-BA1B-990725DA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ORIGINAL AND REPLAY SHOULD RHYME—NOT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53E1D-A712-4446-9091-A10919F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hierarchy can be comparable even when identifiers and durations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01152-9F7C-4FAC-9CB8-07461603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6687D-9EF2-45FA-A665-FEBE02A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E77E4-869B-4CFB-A86A-A4DAD883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7244D-E3FE-4C8C-84DB-885907EB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50482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E8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7A2F6-A501-42D4-8775-4696D46C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ORIGINAL · class-02b-adk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4811E-062F-4362-98AB-86000B05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0482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909F9-572B-482D-A8FD-3EBE108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REPLAY · class-02b-replay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68289-7567-488A-878B-382E601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01193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6E439-1F98-4FED-A2D0-C2837C0F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8595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D2CB9-1004-4220-806C-6FD969E9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54" y="3219450"/>
            <a:ext cx="3086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A878C-9676-484C-8DEE-ED17E9B5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054" y="32766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EA3FB-6752-4697-9937-1D3CF24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074" y="3829050"/>
            <a:ext cx="1933956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B86FC-C294-4484-914A-28BA0C6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274" y="3886200"/>
            <a:ext cx="178155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77A42-0BB6-4A3A-B99C-68EB14A5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10" y="4438650"/>
            <a:ext cx="987552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43599-3DE5-47D6-A18F-1B4C7EF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4495800"/>
            <a:ext cx="83515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B781F-432F-4A38-ABB9-99FDCF6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401193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4E998-B4F7-47C3-9AE9-4491758F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38595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B89EC-9AAE-4315-85CC-1CB4ABF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3219450"/>
            <a:ext cx="3086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CF7CB-9376-4509-B42B-B6D2E67A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804" y="32766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C07B7-CFFE-4B31-A51D-0094F363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829050"/>
            <a:ext cx="1933956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BA123-3881-415A-8BBF-DB209C61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24" y="3886200"/>
            <a:ext cx="178155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2382A-9E87-4420-8487-ED29FD49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438650"/>
            <a:ext cx="987552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34078-7F06-4430-89CD-F8B4BFE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4495800"/>
            <a:ext cx="83515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443DE-F41F-4CFC-B6A7-2E6827F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Different trace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81C34-B215-4C32-AF22-C079180E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48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Different duration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36F09-7E63-4CFF-B831-046F269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48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Same story</a:t>
            </a:r>
          </a:p>
        </p:txBody>
      </p:sp>
    </p:spTree>
    <p:extLst>
      <p:ext uri="{BB962C8B-B14F-4D97-AF65-F5344CB8AC3E}">
        <p14:creationId xmlns:p14="http://schemas.microsoft.com/office/powerpoint/2010/main" val="988496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5B0C2-0F3F-40F5-B688-BE8E8913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EFEC1-1162-4DCD-AF99-D794328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TELEMETRY REQUIRES CONTENT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C697A-8C4A-41A3-BAE9-BCA5578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safest field is often a summary, identifier, count, or hash.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A0F23-BA13-4850-BBF0-F1C492F9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DA0FC-4E2F-4F3C-914A-51B1EAA4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E752A-CD51-474B-B34E-B31B49AC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9739F-19BC-4496-92E2-8F039A7B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ADF52-D759-451B-94DA-E3F44758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AD141-23A7-4906-B435-BD585D7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BA424-955E-46D1-BBD5-22C3858A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A43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AFA65-BD3B-4A86-89C1-42DEB34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95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PREFER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99E07-97C9-4AF9-B1AF-186218D7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73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2D290-08AF-40CE-9956-A8345C0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DEA67-072E-4F59-86C9-222D5FC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agent + tool names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3C6DD-2237-4374-B076-964D10C9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E9003-FB36-4939-A9E0-061159DF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full prompts by 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9A5C7-C058-4781-B304-56273810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B6515-C287-4F22-B339-BEEAF3E1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431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allowlisted attributes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AB7BE-0887-4703-9255-AC5C55C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86141-0D42-4FF3-BBAA-B124F32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status + 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4E5BB-5CE6-41B0-BEAC-15C0EE1F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6F83-879A-460D-8049-C01D3C5C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861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tokens or API keys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4D302-DA65-46D3-A560-00D789E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627A7-584B-4F9C-BA36-8DBDC0BA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content length / 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05302-1772-46D4-8C87-B7B4EF36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52C42-6797-4C36-8CFD-FCBA8CAE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stable identifiers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E9195-CFBC-4067-A1DC-5A7CC489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78522-10F3-4656-9429-E25C8863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personal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2C864-F447-44F0-96CA-E69D747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F305A-82BB-4D88-986B-67ED5701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290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redacted summaries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6FA15-1AD4-4186-87E4-3ECCCE0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10E09-5327-46E2-A48F-4992C90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error category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8528F-072F-479D-B161-ED8F162A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08D327-1679-4B9D-A2B8-648C676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720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unbounded payloads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D24C5-B710-4859-8776-FC4BB11A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469E0-3406-4841-8BE1-45565C1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720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sampled debug detail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AD9022-0133-412C-A905-4E1447A5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007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Cloud Trace is durable operational data—treat it that way.</a:t>
            </a:r>
          </a:p>
        </p:txBody>
      </p:sp>
    </p:spTree>
    <p:extLst>
      <p:ext uri="{BB962C8B-B14F-4D97-AF65-F5344CB8AC3E}">
        <p14:creationId xmlns:p14="http://schemas.microsoft.com/office/powerpoint/2010/main" val="6544311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30218-81A8-49E4-B636-8F20B6D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10C5B-0EE1-4091-A7CC-C50EAD7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FOUR GAPS EXPLAIN MOST MISSING TRACES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EE57-1DC1-45E2-90BE-FFADB31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the missing evidence to choose the next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DD5EA-BFDE-452C-B219-31708EB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C9F57-32C4-4E33-9C5E-A596E004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6BFFC-27D9-4152-B684-1069EC3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DD256-6946-4EA2-85BF-28AF021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50689-C0E0-4302-A9AE-61A3F81F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LIKELY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B05AE-907C-44E9-A0CC-B79E449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B637F-D4CB-4CCB-87F2-22A8664E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5F948-4A6C-4A6C-B430-7A9F1AAD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F4AE3-7EF7-4F27-9C0C-2DD6051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C460A-4E1B-4C7E-AD87-C6D67067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Model auth / agent startup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BC159-F31D-4719-8656-C24FE302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81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73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73E8"/>
                </a:solidFill>
                <a:latin typeface="Arial"/>
                <a:ea typeface="Arial"/>
                <a:cs typeface="Arial"/>
              </a:rPr>
              <a:t>Fix the runtime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91152-80C1-48EF-AF2B-4B038AB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49A6E-92A0-4B6D-813B-76CE6A8B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34A8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91B34-E08F-44D1-9534-36BD4C62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Answer, no JSONL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08569-5774-4A97-938F-FAD9B64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Plugin registration /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F1283-EEA3-41A6-B6F2-F3043124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Fix event recording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20C90-0D1D-4954-8F02-FCA0A60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40AC8-3ADE-4116-A163-DEB8AF7F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FBBC0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05AF0-C352-46BA-A137-37AFDA2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JSONL, no live 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C471C-C470-4DBF-9577-7CB62395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0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ADC / API / IAM /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E972A-7A83-4B9C-975E-72874A4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C0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C04"/>
                </a:solidFill>
                <a:latin typeface="Arial"/>
                <a:ea typeface="Arial"/>
                <a:cs typeface="Arial"/>
              </a:rPr>
              <a:t>Fix Cloud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1E4B5-7C5A-47AE-83C1-ECEDF7B2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D5D95-8132-42C3-88DB-DE1F8B74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EA43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F3C20-9078-44FA-B941-5E31323A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Live trace, no replay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0B9BC-80E7-48AC-A526-1E1BE57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Input mapping / flush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C7F79-6677-41C8-8705-DFB6945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244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Fix reconstruction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BAA95-FD45-4692-AA39-07EC009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Wait briefly for export before escalating a healthy run.</a:t>
            </a:r>
          </a:p>
        </p:txBody>
      </p:sp>
    </p:spTree>
    <p:extLst>
      <p:ext uri="{BB962C8B-B14F-4D97-AF65-F5344CB8AC3E}">
        <p14:creationId xmlns:p14="http://schemas.microsoft.com/office/powerpoint/2010/main" val="21063331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740B8-E62F-4687-9210-83B14FD0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DAD5C-06FA-456B-B498-BAA3D597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RECORD ONCE. INSPECT REPEATEDLY.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E1DA3-42C5-403F-9047-9508975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durable skill is learning to move between execution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6E97-9055-417D-BFC8-982B1595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F2DAC-2A65-46BE-9815-1FCD0CF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AGENT ENGINEERING · CLASS 02B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0E322-B576-4F89-ABD2-DDA7869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086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86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F8863-58B8-4CAB-988F-4FAC7050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1A73E8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05723-7AC4-4A22-A38D-B9E6F67D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857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398CB-0F91-424D-A2F8-E6671E8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A8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A853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F1D6F-92E2-4146-91CC-892B83D7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keep the event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2AF9-C99F-4757-8C87-2651D958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857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FEF7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0F1E9-241E-4587-966E-7FC14AE9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7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6700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571AB-1A87-4918-A7B8-EA617BEF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understand the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1ECAF-C021-4C9B-A140-2F59E3A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FCE8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69FCF-1A94-4C7E-864D-64897CC0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14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43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4335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5DFC4-1EF2-4ADF-A28F-3A0AE68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34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rebuild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E30A0-8D02-4831-8DB6-7C7B354B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28950"/>
            <a:ext cx="13144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A8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141A1-79AC-4B6D-922F-F3AF144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28950"/>
            <a:ext cx="13144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C0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C2E73-E440-4371-9E9E-B3C7237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A43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DC2A5-A4FF-4E81-8A93-3A95BCB8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E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EA6"/>
                </a:solidFill>
                <a:latin typeface="Arial"/>
                <a:ea typeface="Arial"/>
                <a:cs typeface="Arial"/>
              </a:rPr>
              <a:t>Google Cloud Trace is where both stories become inspectable.</a:t>
            </a:r>
          </a:p>
        </p:txBody>
      </p:sp>
    </p:spTree>
    <p:extLst>
      <p:ext uri="{BB962C8B-B14F-4D97-AF65-F5344CB8AC3E}">
        <p14:creationId xmlns:p14="http://schemas.microsoft.com/office/powerpoint/2010/main" val="1046553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2026-08-25T23:49:05.4790000Z</dcterms:created>
  <dcterms:modified xsi:type="dcterms:W3CDTF">2026-08-25T23:49:05.4790000Z</dcterms:modified>
</coreProperties>
</file>